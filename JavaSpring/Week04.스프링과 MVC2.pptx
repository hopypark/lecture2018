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sldIdLst>
    <p:sldId id="256" r:id="rId2"/>
    <p:sldId id="401" r:id="rId3"/>
    <p:sldId id="402" r:id="rId4"/>
    <p:sldId id="259" r:id="rId5"/>
    <p:sldId id="260" r:id="rId6"/>
    <p:sldId id="403" r:id="rId7"/>
    <p:sldId id="406" r:id="rId8"/>
    <p:sldId id="404" r:id="rId9"/>
    <p:sldId id="407" r:id="rId10"/>
    <p:sldId id="410" r:id="rId11"/>
    <p:sldId id="411" r:id="rId12"/>
    <p:sldId id="412" r:id="rId13"/>
    <p:sldId id="405" r:id="rId14"/>
    <p:sldId id="408" r:id="rId15"/>
    <p:sldId id="413" r:id="rId16"/>
    <p:sldId id="414" r:id="rId17"/>
    <p:sldId id="415" r:id="rId18"/>
    <p:sldId id="416" r:id="rId19"/>
    <p:sldId id="417" r:id="rId20"/>
    <p:sldId id="419" r:id="rId21"/>
    <p:sldId id="418" r:id="rId22"/>
    <p:sldId id="40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6" r:id="rId38"/>
    <p:sldId id="434" r:id="rId39"/>
    <p:sldId id="435" r:id="rId40"/>
  </p:sldIdLst>
  <p:sldSz cx="12192000" cy="6858000"/>
  <p:notesSz cx="6858000" cy="9144000"/>
  <p:embeddedFontLst>
    <p:embeddedFont>
      <p:font typeface="나눔고딕코딩" panose="020B0600000101010101" charset="-127"/>
      <p:regular r:id="rId42"/>
      <p:bold r:id="rId43"/>
    </p:embeddedFont>
    <p:embeddedFont>
      <p:font typeface="HY헤드라인M" panose="02030600000101010101" pitchFamily="18" charset="-127"/>
      <p:regular r:id="rId44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86523" autoAdjust="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8BD3B-F037-4209-8BE0-1C7BFECA4066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636CA-6D84-4A16-A9E7-C9512DFD42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91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95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9491" y="856330"/>
            <a:ext cx="11333018" cy="58651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1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66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1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0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6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429491" y="274320"/>
            <a:ext cx="11333018" cy="644715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5075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53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4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58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F538E-3233-4170-8D70-BA57512B6F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31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29491" y="170529"/>
            <a:ext cx="113330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29491" y="856330"/>
            <a:ext cx="11333018" cy="5865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DE9F6-A078-41BC-ABDE-54A9E72A42E4}" type="datetimeFigureOut">
              <a:rPr lang="ko-KR" altLang="en-US" smtClean="0"/>
              <a:t>2018-09-22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F538E-3233-4170-8D70-BA57512B6FD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13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1379132" y="4353750"/>
            <a:ext cx="10558409" cy="1896922"/>
          </a:xfrm>
        </p:spPr>
        <p:txBody>
          <a:bodyPr>
            <a:normAutofit fontScale="90000"/>
          </a:bodyPr>
          <a:lstStyle/>
          <a:p>
            <a:pPr algn="r"/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고급 자바 프로그래밍</a:t>
            </a:r>
            <a:br>
              <a:rPr lang="en-US" altLang="ko-KR" dirty="0"/>
            </a:b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: STS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를 이용한 </a:t>
            </a:r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</a:rPr>
              <a:t>Spring </a:t>
            </a:r>
            <a:r>
              <a:rPr lang="ko-KR" altLang="en-US" sz="4000" dirty="0">
                <a:solidFill>
                  <a:schemeClr val="accent1">
                    <a:lumMod val="50000"/>
                  </a:schemeClr>
                </a:solidFill>
              </a:rPr>
              <a:t>프로그래밍</a:t>
            </a:r>
            <a:endParaRPr lang="ko-KR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3498">
            <a:off x="1353159" y="850601"/>
            <a:ext cx="3766744" cy="524712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604088" y="433637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comsi.java@gmail.com</a:t>
            </a:r>
            <a:endParaRPr lang="ko-KR" altLang="en-US" sz="2400" dirty="0"/>
          </a:p>
        </p:txBody>
      </p:sp>
      <p:sp>
        <p:nvSpPr>
          <p:cNvPr id="8" name="직사각형 7"/>
          <p:cNvSpPr/>
          <p:nvPr/>
        </p:nvSpPr>
        <p:spPr>
          <a:xfrm>
            <a:off x="10245563" y="390363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박 경 태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0350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BCBD4B6-643A-4E17-9707-DCFCEA4B7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altLang="ko-KR" dirty="0"/>
              <a:t>4. MVC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ko-KR" altLang="en-US" dirty="0"/>
              <a:t>이용한 </a:t>
            </a:r>
            <a:r>
              <a:rPr lang="ko-KR" altLang="en-US" dirty="0" err="1"/>
              <a:t>웹어플리케이션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606F11ED-E49A-4433-B0BA-F3AC349A1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96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AFBA188-0B26-4491-89E0-B0BC77DB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MVC </a:t>
            </a:r>
            <a:r>
              <a:rPr lang="ko-KR" altLang="en-US" dirty="0"/>
              <a:t>프레임워크 구조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BED65D-2E6A-4B0A-993E-A8D220546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5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스프링</a:t>
            </a:r>
            <a:r>
              <a:rPr lang="en-US" altLang="ko-KR" dirty="0"/>
              <a:t> MVC</a:t>
            </a:r>
            <a:r>
              <a:rPr lang="ko-KR" altLang="en-US" dirty="0"/>
              <a:t>의 수행 흐름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50100" y="939349"/>
            <a:ext cx="50572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latin typeface="+mn-ea"/>
              </a:rPr>
              <a:t>스프링 </a:t>
            </a:r>
            <a:r>
              <a:rPr lang="en-US" altLang="ko-KR" sz="2000" b="1" dirty="0">
                <a:latin typeface="+mn-ea"/>
              </a:rPr>
              <a:t>MVC</a:t>
            </a:r>
            <a:r>
              <a:rPr lang="ko-KR" altLang="en-US" sz="2000" b="1" dirty="0">
                <a:latin typeface="+mn-ea"/>
              </a:rPr>
              <a:t>의 클라이언트 요청 처리 과정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64351" y="382169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DispatcherServlet</a:t>
            </a:r>
            <a:endParaRPr lang="ko-KR" altLang="en-US" b="1" dirty="0">
              <a:latin typeface="+mn-ea"/>
            </a:endParaRPr>
          </a:p>
        </p:txBody>
      </p:sp>
      <p:pic>
        <p:nvPicPr>
          <p:cNvPr id="6" name="Picture 2" descr="C:\Users\KyungTae\AppData\Local\Microsoft\Windows\Temporary Internet Files\Content.IE5\5V3BVZ06\MC90044153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98438" y="1920456"/>
            <a:ext cx="1108724" cy="1209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71391" y="19204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유저</a:t>
            </a:r>
          </a:p>
        </p:txBody>
      </p:sp>
      <p:cxnSp>
        <p:nvCxnSpPr>
          <p:cNvPr id="8" name="직선 화살표 연결선 7"/>
          <p:cNvCxnSpPr>
            <a:stCxn id="6" idx="2"/>
            <a:endCxn id="5" idx="0"/>
          </p:cNvCxnSpPr>
          <p:nvPr/>
        </p:nvCxnSpPr>
        <p:spPr>
          <a:xfrm>
            <a:off x="1952800" y="3130454"/>
            <a:ext cx="0" cy="69124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688280" y="1845385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HandlerMapping</a:t>
            </a:r>
            <a:endParaRPr lang="ko-KR" altLang="en-US" b="1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171605" y="3808278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Controller</a:t>
            </a:r>
            <a:endParaRPr lang="ko-KR" altLang="en-US" b="1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938061" y="5560456"/>
            <a:ext cx="2176898" cy="6480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latin typeface="+mn-ea"/>
              </a:rPr>
              <a:t>ViewResolver</a:t>
            </a:r>
            <a:endParaRPr lang="ko-KR" altLang="en-US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44629" y="3146015"/>
            <a:ext cx="1545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/>
              <a:t>처리요청</a:t>
            </a:r>
            <a:r>
              <a:rPr lang="en-US" altLang="ko-KR" sz="1400" dirty="0"/>
              <a:t>(URL)</a:t>
            </a:r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701364" y="1894393"/>
            <a:ext cx="2050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2.</a:t>
            </a:r>
            <a:r>
              <a:rPr lang="ko-KR" altLang="en-US" sz="1400" dirty="0"/>
              <a:t>요청</a:t>
            </a:r>
            <a:r>
              <a:rPr lang="en-US" altLang="ko-KR" sz="1400" dirty="0"/>
              <a:t>URL</a:t>
            </a:r>
            <a:r>
              <a:rPr lang="ko-KR" altLang="en-US" sz="1400" dirty="0"/>
              <a:t>과 </a:t>
            </a:r>
            <a:r>
              <a:rPr lang="ko-KR" altLang="en-US" sz="1400" dirty="0" err="1"/>
              <a:t>매핑되는</a:t>
            </a:r>
            <a:r>
              <a:rPr lang="ko-KR" altLang="en-US" sz="1400" dirty="0"/>
              <a:t> </a:t>
            </a:r>
            <a:r>
              <a:rPr lang="en-US" altLang="ko-KR" sz="1400" dirty="0"/>
              <a:t>Controller </a:t>
            </a:r>
            <a:r>
              <a:rPr lang="ko-KR" altLang="en-US" sz="1400" dirty="0"/>
              <a:t>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853" y="3547443"/>
            <a:ext cx="2580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3.</a:t>
            </a:r>
            <a:r>
              <a:rPr lang="ko-KR" altLang="en-US" sz="1400" dirty="0"/>
              <a:t>해당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에 요청처리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8110" y="4348980"/>
            <a:ext cx="2256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4.</a:t>
            </a:r>
            <a:r>
              <a:rPr lang="ko-KR" altLang="en-US" sz="1400" dirty="0"/>
              <a:t> 처리 결과</a:t>
            </a:r>
            <a:r>
              <a:rPr lang="en-US" altLang="ko-KR" sz="1400" dirty="0"/>
              <a:t>(Session)</a:t>
            </a:r>
            <a:r>
              <a:rPr lang="ko-KR" altLang="en-US" sz="1400" dirty="0"/>
              <a:t>과 뷰 페이지</a:t>
            </a:r>
            <a:r>
              <a:rPr lang="en-US" altLang="ko-KR" sz="1400" dirty="0"/>
              <a:t>(String)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6431554" y="5100099"/>
            <a:ext cx="3369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5.</a:t>
            </a:r>
            <a:r>
              <a:rPr lang="ko-KR" altLang="en-US" sz="1400" dirty="0"/>
              <a:t> 컨트롤러에서 보내온 결과를 보여줄 </a:t>
            </a:r>
            <a:r>
              <a:rPr lang="en-US" altLang="ko-KR" sz="1400" dirty="0"/>
              <a:t>View(JSP </a:t>
            </a:r>
            <a:r>
              <a:rPr lang="ko-KR" altLang="en-US" sz="1400" dirty="0"/>
              <a:t>파일</a:t>
            </a:r>
            <a:r>
              <a:rPr lang="en-US" altLang="ko-KR" sz="1400" dirty="0"/>
              <a:t>) </a:t>
            </a:r>
            <a:r>
              <a:rPr lang="ko-KR" altLang="en-US" sz="1400" dirty="0"/>
              <a:t>파일검색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D53DD8C-0866-4313-ABEE-4CB5CFD1E40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641685" y="4531382"/>
            <a:ext cx="5296376" cy="1353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C5AECD6-DF15-4ED7-B48C-80D197E5A19F}"/>
              </a:ext>
            </a:extLst>
          </p:cNvPr>
          <p:cNvCxnSpPr>
            <a:cxnSpLocks/>
          </p:cNvCxnSpPr>
          <p:nvPr/>
        </p:nvCxnSpPr>
        <p:spPr>
          <a:xfrm flipH="1">
            <a:off x="3030822" y="4309403"/>
            <a:ext cx="6130356" cy="134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A244344-7F78-4227-9202-D8F39DA5E9E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777483" y="2169421"/>
            <a:ext cx="2910797" cy="16388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6FF520B-9C95-4E7D-9965-2D61F191E7F2}"/>
              </a:ext>
            </a:extLst>
          </p:cNvPr>
          <p:cNvSpPr txBox="1"/>
          <p:nvPr/>
        </p:nvSpPr>
        <p:spPr>
          <a:xfrm>
            <a:off x="3030822" y="5935663"/>
            <a:ext cx="1526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6. </a:t>
            </a:r>
            <a:r>
              <a:rPr lang="ko-KR" altLang="en-US" sz="1400" dirty="0"/>
              <a:t>최종결과 출력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브라우저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A99C21-F62C-4897-AB70-E2627B9EE855}"/>
              </a:ext>
            </a:extLst>
          </p:cNvPr>
          <p:cNvCxnSpPr>
            <a:cxnSpLocks/>
          </p:cNvCxnSpPr>
          <p:nvPr/>
        </p:nvCxnSpPr>
        <p:spPr>
          <a:xfrm>
            <a:off x="2033893" y="4499520"/>
            <a:ext cx="3108139" cy="1815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C307FD-014E-40E4-AD97-7FAE783C7BB0}"/>
              </a:ext>
            </a:extLst>
          </p:cNvPr>
          <p:cNvSpPr/>
          <p:nvPr/>
        </p:nvSpPr>
        <p:spPr>
          <a:xfrm>
            <a:off x="5089698" y="6136625"/>
            <a:ext cx="1291437" cy="4656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View</a:t>
            </a:r>
            <a:endParaRPr lang="ko-KR" altLang="en-US" b="1" dirty="0"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3003844-BD72-4E9C-BC5E-749BC15FD3AF}"/>
              </a:ext>
            </a:extLst>
          </p:cNvPr>
          <p:cNvSpPr/>
          <p:nvPr/>
        </p:nvSpPr>
        <p:spPr>
          <a:xfrm>
            <a:off x="5527512" y="4132314"/>
            <a:ext cx="1291437" cy="4656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String</a:t>
            </a:r>
            <a:endParaRPr lang="ko-KR" altLang="en-US" b="1" dirty="0">
              <a:latin typeface="+mn-ea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3336859-33D0-4274-A2DA-972689F1AA52}"/>
              </a:ext>
            </a:extLst>
          </p:cNvPr>
          <p:cNvCxnSpPr>
            <a:cxnSpLocks/>
          </p:cNvCxnSpPr>
          <p:nvPr/>
        </p:nvCxnSpPr>
        <p:spPr>
          <a:xfrm flipV="1">
            <a:off x="3041249" y="3916316"/>
            <a:ext cx="6130356" cy="163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29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스프링</a:t>
            </a:r>
            <a:r>
              <a:rPr lang="en-US" altLang="ko-KR" dirty="0"/>
              <a:t> MVC</a:t>
            </a:r>
            <a:r>
              <a:rPr lang="ko-KR" altLang="en-US" dirty="0"/>
              <a:t>를 이용한 </a:t>
            </a:r>
            <a:r>
              <a:rPr lang="ko-KR" altLang="en-US" dirty="0" err="1"/>
              <a:t>웹어플리케이션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7689" y="1140179"/>
            <a:ext cx="11356622" cy="530002"/>
          </a:xfrm>
        </p:spPr>
        <p:txBody>
          <a:bodyPr/>
          <a:lstStyle/>
          <a:p>
            <a:r>
              <a:rPr lang="ko-KR" altLang="en-US" dirty="0"/>
              <a:t>스프링 </a:t>
            </a:r>
            <a:r>
              <a:rPr lang="en-US" altLang="ko-KR" dirty="0"/>
              <a:t>MVC</a:t>
            </a:r>
            <a:r>
              <a:rPr lang="ko-KR" altLang="en-US" dirty="0"/>
              <a:t>의 주요 구성 요소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750099" y="1670181"/>
          <a:ext cx="10707893" cy="3497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구성요소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DispatcherServlet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유일한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서블릿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클래스로서 모든 클라이언트의 요청을 가장 먼저 처리하는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Front Controller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HandlerMapping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클라이언트의 요청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(URL)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을 어떤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 처리할지를 결정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latin typeface="+mn-ea"/>
                          <a:ea typeface="+mn-ea"/>
                        </a:rPr>
                        <a:t>Controller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클라이언트의 요청을 처리한 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필요시 결과를 세션에 저장하고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뷰페이지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(JSP)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정보를 넘김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latin typeface="+mn-ea"/>
                          <a:ea typeface="+mn-ea"/>
                        </a:rPr>
                        <a:t>ViewResolver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Controller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리턴한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View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이름으로 실행할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JSP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경로를 완성</a:t>
                      </a:r>
                      <a:r>
                        <a:rPr lang="ko-KR" altLang="en-US" sz="1600" baseline="0" dirty="0">
                          <a:latin typeface="+mn-ea"/>
                          <a:ea typeface="+mn-ea"/>
                        </a:rPr>
                        <a:t>한다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00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4287B-0B30-4073-BEA7-EDD052B4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web.xml </a:t>
            </a:r>
            <a:r>
              <a:rPr lang="ko-KR" altLang="en-US" dirty="0"/>
              <a:t>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3CA421-5876-4316-9DE0-6A0EAF0E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46" y="1135625"/>
            <a:ext cx="10773626" cy="362257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E099C67-B0A1-485A-A0E5-88ECDA06DD4C}"/>
              </a:ext>
            </a:extLst>
          </p:cNvPr>
          <p:cNvSpPr/>
          <p:nvPr/>
        </p:nvSpPr>
        <p:spPr>
          <a:xfrm>
            <a:off x="1071716" y="1995948"/>
            <a:ext cx="9111431" cy="304800"/>
          </a:xfrm>
          <a:prstGeom prst="roundRect">
            <a:avLst>
              <a:gd name="adj" fmla="val 6500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563BA4-A6BB-4010-8D5D-92C4F187BEBB}"/>
              </a:ext>
            </a:extLst>
          </p:cNvPr>
          <p:cNvSpPr/>
          <p:nvPr/>
        </p:nvSpPr>
        <p:spPr>
          <a:xfrm>
            <a:off x="1071715" y="2427644"/>
            <a:ext cx="9111431" cy="2055866"/>
          </a:xfrm>
          <a:prstGeom prst="roundRect">
            <a:avLst>
              <a:gd name="adj" fmla="val 6500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FAE7DE54-110D-40E7-A79A-AF5A15E26D2E}"/>
              </a:ext>
            </a:extLst>
          </p:cNvPr>
          <p:cNvCxnSpPr>
            <a:cxnSpLocks/>
            <a:stCxn id="6" idx="1"/>
            <a:endCxn id="8" idx="1"/>
          </p:cNvCxnSpPr>
          <p:nvPr/>
        </p:nvCxnSpPr>
        <p:spPr>
          <a:xfrm rot="10800000" flipV="1">
            <a:off x="1071716" y="2148347"/>
            <a:ext cx="1" cy="1307229"/>
          </a:xfrm>
          <a:prstGeom prst="curvedConnector3">
            <a:avLst>
              <a:gd name="adj1" fmla="val 228601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3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8E8460-0964-4817-A929-8849541CD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MVC</a:t>
            </a:r>
            <a:r>
              <a:rPr lang="ko-KR" altLang="en-US" dirty="0"/>
              <a:t> 준비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17224B2-E44C-4719-9F05-5A5247632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631" y="1024628"/>
            <a:ext cx="4686453" cy="573263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B947D3-78E7-4F79-902F-A47E17B6BF93}"/>
              </a:ext>
            </a:extLst>
          </p:cNvPr>
          <p:cNvSpPr/>
          <p:nvPr/>
        </p:nvSpPr>
        <p:spPr>
          <a:xfrm>
            <a:off x="1012723" y="2418735"/>
            <a:ext cx="1995948" cy="25563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8026ECD-FBBB-48F2-83A5-83A92EEE7001}"/>
              </a:ext>
            </a:extLst>
          </p:cNvPr>
          <p:cNvCxnSpPr>
            <a:stCxn id="5" idx="3"/>
          </p:cNvCxnSpPr>
          <p:nvPr/>
        </p:nvCxnSpPr>
        <p:spPr>
          <a:xfrm>
            <a:off x="3008671" y="2546555"/>
            <a:ext cx="26055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1169B7-09FB-4922-B19A-F3BE83107AAF}"/>
              </a:ext>
            </a:extLst>
          </p:cNvPr>
          <p:cNvSpPr txBox="1"/>
          <p:nvPr/>
        </p:nvSpPr>
        <p:spPr>
          <a:xfrm>
            <a:off x="5801032" y="2418735"/>
            <a:ext cx="4676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+mn-ea"/>
              </a:rPr>
              <a:t>기존 </a:t>
            </a:r>
            <a:r>
              <a:rPr lang="en-US" altLang="ko-KR" dirty="0">
                <a:latin typeface="+mn-ea"/>
              </a:rPr>
              <a:t>Controller </a:t>
            </a:r>
            <a:r>
              <a:rPr lang="ko-KR" altLang="en-US" dirty="0">
                <a:latin typeface="+mn-ea"/>
              </a:rPr>
              <a:t>관련 파일들을 모두 지운다</a:t>
            </a:r>
            <a:r>
              <a:rPr lang="en-US" altLang="ko-KR" dirty="0">
                <a:latin typeface="+mn-ea"/>
              </a:rPr>
              <a:t>.</a:t>
            </a:r>
          </a:p>
          <a:p>
            <a:r>
              <a:rPr lang="en-US" altLang="ko-KR" dirty="0">
                <a:latin typeface="+mn-ea"/>
              </a:rPr>
              <a:t>- </a:t>
            </a:r>
            <a:r>
              <a:rPr lang="en-US" altLang="ko-KR" dirty="0" err="1">
                <a:latin typeface="+mn-ea"/>
              </a:rPr>
              <a:t>DispaterServlet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클래스 </a:t>
            </a:r>
          </a:p>
        </p:txBody>
      </p:sp>
    </p:spTree>
    <p:extLst>
      <p:ext uri="{BB962C8B-B14F-4D97-AF65-F5344CB8AC3E}">
        <p14:creationId xmlns:p14="http://schemas.microsoft.com/office/powerpoint/2010/main" val="379127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29225-6911-4469-BCFD-5423A180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MVC</a:t>
            </a:r>
            <a:r>
              <a:rPr lang="ko-KR" altLang="en-US" dirty="0"/>
              <a:t> 준비 </a:t>
            </a:r>
            <a:r>
              <a:rPr lang="en-US" altLang="ko-KR" dirty="0"/>
              <a:t>– </a:t>
            </a:r>
            <a:r>
              <a:rPr lang="ko-KR" altLang="en-US" dirty="0"/>
              <a:t>스프링의 </a:t>
            </a:r>
            <a:r>
              <a:rPr lang="en-US" altLang="ko-KR" dirty="0"/>
              <a:t>Controller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6E5C55-E8C8-418A-8A5E-9221EFBDE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478" y="1045599"/>
            <a:ext cx="9180245" cy="3064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8E8A5-B389-4735-8777-19B784546DAF}"/>
              </a:ext>
            </a:extLst>
          </p:cNvPr>
          <p:cNvSpPr txBox="1"/>
          <p:nvPr/>
        </p:nvSpPr>
        <p:spPr>
          <a:xfrm>
            <a:off x="596388" y="4198374"/>
            <a:ext cx="9707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</a:rPr>
              <a:t>기존 </a:t>
            </a:r>
            <a:r>
              <a:rPr lang="en-US" altLang="ko-KR" sz="2400" dirty="0">
                <a:latin typeface="+mn-ea"/>
              </a:rPr>
              <a:t>Controller </a:t>
            </a:r>
            <a:r>
              <a:rPr lang="ko-KR" altLang="en-US" sz="2400" dirty="0">
                <a:latin typeface="+mn-ea"/>
              </a:rPr>
              <a:t>클래스들을 스프링에서 제공하는 </a:t>
            </a:r>
            <a:r>
              <a:rPr lang="en-US" altLang="ko-KR" sz="2400" dirty="0">
                <a:latin typeface="+mn-ea"/>
              </a:rPr>
              <a:t>Controller interface</a:t>
            </a:r>
            <a:r>
              <a:rPr lang="ko-KR" altLang="en-US" sz="2400" dirty="0">
                <a:latin typeface="+mn-ea"/>
              </a:rPr>
              <a:t>로 구현해야 한다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626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74263A6-B5A3-4898-A57E-5B4F539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MVC </a:t>
            </a:r>
            <a:r>
              <a:rPr lang="ko-KR" altLang="en-US" dirty="0"/>
              <a:t>프레임 구현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F34A0F-B8D8-4068-A364-159CC5211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0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53649CA-4AC4-4023-AED1-6C7E0C62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(1) Controller</a:t>
            </a:r>
            <a:r>
              <a:rPr lang="ko-KR" altLang="en-US" dirty="0"/>
              <a:t> 인터페이스 작성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4FC709-FD25-4044-8E2A-BE5A3D41D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DisapatchServlet</a:t>
            </a:r>
            <a:r>
              <a:rPr lang="ko-KR" altLang="en-US" dirty="0"/>
              <a:t>은 클라이언트의 요청을 가장 먼저 받아들임</a:t>
            </a:r>
            <a:endParaRPr lang="en-US" altLang="ko-KR" dirty="0"/>
          </a:p>
          <a:p>
            <a:r>
              <a:rPr lang="ko-KR" altLang="en-US" dirty="0"/>
              <a:t>클라이언트의 요청을 처리하기 위해서 하는 일은 거의 없음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실질적인 요청 처리는 각 </a:t>
            </a:r>
            <a:r>
              <a:rPr lang="en-US" altLang="ko-KR" dirty="0">
                <a:sym typeface="Wingdings" panose="05000000000000000000" pitchFamily="2" charset="2"/>
              </a:rPr>
              <a:t>Controller</a:t>
            </a:r>
            <a:r>
              <a:rPr lang="ko-KR" altLang="en-US" dirty="0">
                <a:sym typeface="Wingdings" panose="05000000000000000000" pitchFamily="2" charset="2"/>
              </a:rPr>
              <a:t>가 담당</a:t>
            </a:r>
            <a:endParaRPr lang="en-US" altLang="ko-KR" dirty="0"/>
          </a:p>
          <a:p>
            <a:r>
              <a:rPr lang="ko-KR" altLang="en-US" dirty="0"/>
              <a:t>모든 </a:t>
            </a:r>
            <a:r>
              <a:rPr lang="en-US" altLang="ko-KR" dirty="0"/>
              <a:t>Controller</a:t>
            </a:r>
            <a:r>
              <a:rPr lang="ko-KR" altLang="en-US" dirty="0"/>
              <a:t>를 같은 타입으로 관리하기 위한 인터페이스를 만들어야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클라이언트의 요청을 받은 </a:t>
            </a:r>
            <a:r>
              <a:rPr lang="en-US" altLang="ko-KR" dirty="0" err="1"/>
              <a:t>DispatcherServlet</a:t>
            </a:r>
            <a:r>
              <a:rPr lang="ko-KR" altLang="en-US" dirty="0"/>
              <a:t>은 </a:t>
            </a:r>
            <a:r>
              <a:rPr lang="en-US" altLang="ko-KR" dirty="0" err="1"/>
              <a:t>HandlerMapping</a:t>
            </a:r>
            <a:r>
              <a:rPr lang="ko-KR" altLang="en-US" dirty="0"/>
              <a:t>을 통해 </a:t>
            </a:r>
            <a:r>
              <a:rPr lang="en-US" altLang="ko-KR" dirty="0"/>
              <a:t>Controller </a:t>
            </a:r>
            <a:r>
              <a:rPr lang="ko-KR" altLang="en-US" dirty="0"/>
              <a:t>객체를 검색하고</a:t>
            </a:r>
            <a:r>
              <a:rPr lang="en-US" altLang="ko-KR" dirty="0"/>
              <a:t>, </a:t>
            </a:r>
            <a:r>
              <a:rPr lang="ko-KR" altLang="en-US" dirty="0"/>
              <a:t>검색된 </a:t>
            </a:r>
            <a:r>
              <a:rPr lang="en-US" altLang="ko-KR" dirty="0"/>
              <a:t>Controller</a:t>
            </a:r>
            <a:r>
              <a:rPr lang="ko-KR" altLang="en-US" dirty="0"/>
              <a:t>를 실행한다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 어떤 </a:t>
            </a:r>
            <a:r>
              <a:rPr lang="en-US" altLang="ko-KR" dirty="0"/>
              <a:t>Controller</a:t>
            </a:r>
            <a:r>
              <a:rPr lang="ko-KR" altLang="en-US" dirty="0"/>
              <a:t>객체가 검색되더라도 같은 코드로 실행하려면 모든 </a:t>
            </a:r>
            <a:r>
              <a:rPr lang="en-US" altLang="ko-KR" dirty="0"/>
              <a:t>Controller</a:t>
            </a:r>
            <a:r>
              <a:rPr lang="ko-KR" altLang="en-US" dirty="0"/>
              <a:t>의 최상위 인터페이스가 필요</a:t>
            </a:r>
          </a:p>
        </p:txBody>
      </p:sp>
    </p:spTree>
    <p:extLst>
      <p:ext uri="{BB962C8B-B14F-4D97-AF65-F5344CB8AC3E}">
        <p14:creationId xmlns:p14="http://schemas.microsoft.com/office/powerpoint/2010/main" val="2094798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B0BF3-D607-4941-A7BC-EBBDD021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en-US" altLang="ko-KR" dirty="0"/>
              <a:t>/main/java</a:t>
            </a:r>
            <a:r>
              <a:rPr lang="ko-KR" altLang="en-US" dirty="0"/>
              <a:t> 폴더에서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3489407-1552-45AE-9BE3-A84702201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961" y="1000125"/>
            <a:ext cx="50863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8FDEB-9480-4230-B163-373FCB0D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Controller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모든 </a:t>
            </a:r>
            <a:r>
              <a:rPr lang="en-US" altLang="ko-KR" dirty="0"/>
              <a:t>Controller</a:t>
            </a:r>
            <a:r>
              <a:rPr lang="ko-KR" altLang="en-US" dirty="0"/>
              <a:t>가 사용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5FDA331-F6A3-4F81-89F1-900F5CA00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1073175"/>
            <a:ext cx="8742512" cy="2476270"/>
          </a:xfrm>
          <a:prstGeom prst="rect">
            <a:avLst/>
          </a:prstGeom>
        </p:spPr>
      </p:pic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2486EB23-9472-452B-837B-1034E64F9B50}"/>
              </a:ext>
            </a:extLst>
          </p:cNvPr>
          <p:cNvCxnSpPr>
            <a:cxnSpLocks/>
            <a:endCxn id="7" idx="0"/>
          </p:cNvCxnSpPr>
          <p:nvPr/>
        </p:nvCxnSpPr>
        <p:spPr>
          <a:xfrm rot="16200000" flipH="1">
            <a:off x="2536165" y="2898475"/>
            <a:ext cx="1470804" cy="1419045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3DB420-BC7A-4761-81AA-4AC7FFE02278}"/>
              </a:ext>
            </a:extLst>
          </p:cNvPr>
          <p:cNvSpPr txBox="1"/>
          <p:nvPr/>
        </p:nvSpPr>
        <p:spPr>
          <a:xfrm>
            <a:off x="1561380" y="4343400"/>
            <a:ext cx="4839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latin typeface="+mn-ea"/>
              </a:rPr>
              <a:t>‘r’</a:t>
            </a:r>
            <a:r>
              <a:rPr lang="ko-KR" altLang="en-US" dirty="0">
                <a:latin typeface="+mn-ea"/>
              </a:rPr>
              <a:t>을 제거한다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오타</a:t>
            </a:r>
            <a:r>
              <a:rPr lang="en-US" altLang="ko-KR" dirty="0">
                <a:latin typeface="+mn-ea"/>
              </a:rPr>
              <a:t>).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algn="l"/>
            <a:r>
              <a:rPr lang="en-US" altLang="ko-KR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이후 모든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Controller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클래스에서도 제외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163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1CC79-32F8-49B2-8E75-030CDA0C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en-US" altLang="ko-KR" dirty="0" err="1"/>
              <a:t>LoginController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F7F07B-1596-43D1-A22A-C8151653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6329"/>
            <a:ext cx="8244986" cy="453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88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E27707-7321-4E48-B012-B80969EE6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" y="56195"/>
            <a:ext cx="10992466" cy="674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00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A99E6-2BE8-4DC1-BD5B-D43D7678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en-US" altLang="ko-KR" dirty="0" err="1"/>
              <a:t>HandlerMapping</a:t>
            </a:r>
            <a:r>
              <a:rPr lang="ko-KR" altLang="en-US" dirty="0"/>
              <a:t> 클래스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9D981-C292-41EF-920A-D97429A61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1" y="856329"/>
            <a:ext cx="11333018" cy="1375593"/>
          </a:xfrm>
        </p:spPr>
        <p:txBody>
          <a:bodyPr>
            <a:normAutofit fontScale="92500"/>
          </a:bodyPr>
          <a:lstStyle/>
          <a:p>
            <a:r>
              <a:rPr lang="en-US" altLang="ko-KR" dirty="0" err="1"/>
              <a:t>HandlerMapping</a:t>
            </a:r>
            <a:r>
              <a:rPr lang="ko-KR" altLang="en-US" dirty="0"/>
              <a:t>은 모든 </a:t>
            </a:r>
            <a:r>
              <a:rPr lang="en-US" altLang="ko-KR" dirty="0"/>
              <a:t>Controller </a:t>
            </a:r>
            <a:r>
              <a:rPr lang="ko-KR" altLang="en-US" dirty="0"/>
              <a:t>객체를 저장하고 있다가 클라이언트의 요청이 들어오면 처리할 특정 </a:t>
            </a:r>
            <a:r>
              <a:rPr lang="en-US" altLang="ko-KR" dirty="0"/>
              <a:t>Controller</a:t>
            </a:r>
            <a:r>
              <a:rPr lang="ko-KR" altLang="en-US" dirty="0"/>
              <a:t>를 검색하는 기능</a:t>
            </a:r>
            <a:endParaRPr lang="en-US" altLang="ko-KR" dirty="0"/>
          </a:p>
          <a:p>
            <a:r>
              <a:rPr lang="en-US" altLang="ko-KR" dirty="0" err="1"/>
              <a:t>DispatcherServlet</a:t>
            </a:r>
            <a:r>
              <a:rPr lang="ko-KR" altLang="en-US" dirty="0"/>
              <a:t>에서 사용하고 </a:t>
            </a:r>
            <a:r>
              <a:rPr lang="en-US" altLang="ko-KR" dirty="0" err="1"/>
              <a:t>init</a:t>
            </a:r>
            <a:r>
              <a:rPr lang="en-US" altLang="ko-KR" dirty="0"/>
              <a:t>() </a:t>
            </a:r>
            <a:r>
              <a:rPr lang="ko-KR" altLang="en-US" dirty="0"/>
              <a:t>메소드가 호출될 때 단 한 번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6AA5E7-A001-4C72-A5B5-EC578021B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2231922"/>
            <a:ext cx="8475406" cy="433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19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00347-4EA1-4EB0-A048-3D285B37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이어서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510D806-EBC8-4212-8442-1D217AC44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32" y="992188"/>
            <a:ext cx="4917614" cy="586581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6C95B10-741F-4A10-9AF2-056C0FB2C4A2}"/>
              </a:ext>
            </a:extLst>
          </p:cNvPr>
          <p:cNvSpPr/>
          <p:nvPr/>
        </p:nvSpPr>
        <p:spPr>
          <a:xfrm>
            <a:off x="3480619" y="6420465"/>
            <a:ext cx="1042220" cy="36379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F31E8A-2ABA-4C8B-A298-C7FBF693CB6D}"/>
              </a:ext>
            </a:extLst>
          </p:cNvPr>
          <p:cNvSpPr/>
          <p:nvPr/>
        </p:nvSpPr>
        <p:spPr>
          <a:xfrm>
            <a:off x="540031" y="2979174"/>
            <a:ext cx="3982807" cy="27530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346EAAF-3075-4D35-B662-7A974D3A1C61}"/>
              </a:ext>
            </a:extLst>
          </p:cNvPr>
          <p:cNvSpPr/>
          <p:nvPr/>
        </p:nvSpPr>
        <p:spPr>
          <a:xfrm>
            <a:off x="540030" y="1986119"/>
            <a:ext cx="3982807" cy="49837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83D6C16-A2BA-405B-AE3E-E569A633F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018" y="1821426"/>
            <a:ext cx="5314950" cy="1295400"/>
          </a:xfrm>
          <a:prstGeom prst="rect">
            <a:avLst/>
          </a:prstGeom>
        </p:spPr>
      </p:pic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7B60B3D6-FD67-43FE-9FA3-DE9DA0BBE4B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5457646" y="2469126"/>
            <a:ext cx="879372" cy="145596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9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EC944-B497-4256-A59E-9971637E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HandlerMapping.java </a:t>
            </a:r>
            <a:r>
              <a:rPr lang="ko-KR" altLang="en-US" dirty="0"/>
              <a:t>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2550C2-C2A5-48C7-9339-DCB93842B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+mn-ea"/>
              </a:rPr>
              <a:t>HandlerMapping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Map 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타입 컬렉션</a:t>
            </a:r>
            <a:r>
              <a:rPr lang="ko-KR" altLang="en-US" dirty="0">
                <a:latin typeface="+mn-ea"/>
              </a:rPr>
              <a:t> 멤버변수를 가지고 게시판 프로그램에 필요한 모든 </a:t>
            </a:r>
            <a:r>
              <a:rPr lang="en-US" altLang="ko-KR" dirty="0">
                <a:latin typeface="+mn-ea"/>
              </a:rPr>
              <a:t>Controller</a:t>
            </a:r>
            <a:r>
              <a:rPr lang="ko-KR" altLang="en-US" dirty="0">
                <a:latin typeface="+mn-ea"/>
              </a:rPr>
              <a:t>객체 등록하고 관리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2B3EBD-1DE3-4D16-82C5-EDECB3A53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1723389"/>
            <a:ext cx="9745037" cy="47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6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783CC-5AA3-4372-AD76-6587AD7A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en-US" altLang="ko-KR" dirty="0" err="1"/>
              <a:t>ViewResolver</a:t>
            </a:r>
            <a:r>
              <a:rPr lang="ko-KR" altLang="en-US" dirty="0"/>
              <a:t>클래스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A1E922-AC06-4CAE-8B3D-3463EC551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1" y="787506"/>
            <a:ext cx="11333018" cy="5865146"/>
          </a:xfrm>
        </p:spPr>
        <p:txBody>
          <a:bodyPr/>
          <a:lstStyle/>
          <a:p>
            <a:r>
              <a:rPr lang="en-US" altLang="ko-KR" dirty="0" err="1"/>
              <a:t>ViewResolver</a:t>
            </a:r>
            <a:r>
              <a:rPr lang="ko-KR" altLang="en-US" dirty="0"/>
              <a:t>클래스는 </a:t>
            </a:r>
            <a:r>
              <a:rPr lang="en-US" altLang="ko-KR" dirty="0"/>
              <a:t>Controller</a:t>
            </a:r>
            <a:r>
              <a:rPr lang="ko-KR" altLang="en-US" dirty="0"/>
              <a:t>가 </a:t>
            </a:r>
            <a:r>
              <a:rPr lang="ko-KR" altLang="en-US" dirty="0" err="1"/>
              <a:t>리턴한</a:t>
            </a:r>
            <a:r>
              <a:rPr lang="ko-KR" altLang="en-US" dirty="0"/>
              <a:t> </a:t>
            </a:r>
            <a:r>
              <a:rPr lang="en-US" altLang="ko-KR" dirty="0"/>
              <a:t>View</a:t>
            </a:r>
            <a:r>
              <a:rPr lang="ko-KR" altLang="en-US" dirty="0"/>
              <a:t>에 접두사와 접미사를 결합하여 최종 실행된 </a:t>
            </a:r>
            <a:r>
              <a:rPr lang="en-US" altLang="ko-KR" dirty="0"/>
              <a:t>View </a:t>
            </a:r>
            <a:r>
              <a:rPr lang="ko-KR" altLang="en-US" dirty="0"/>
              <a:t>경로와 파일명을 완성한다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DispatcherServlet</a:t>
            </a:r>
            <a:r>
              <a:rPr lang="ko-KR" altLang="en-US" dirty="0"/>
              <a:t>의 </a:t>
            </a:r>
            <a:r>
              <a:rPr lang="en-US" altLang="ko-KR" dirty="0" err="1"/>
              <a:t>init</a:t>
            </a:r>
            <a:r>
              <a:rPr lang="en-US" altLang="ko-KR" dirty="0"/>
              <a:t>() </a:t>
            </a:r>
            <a:r>
              <a:rPr lang="ko-KR" altLang="en-US" dirty="0"/>
              <a:t>메소드가 호출될 때 단 한 번 생성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5A5FC6-F4F4-42C1-9D09-76B6CA81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77" y="2237984"/>
            <a:ext cx="9103043" cy="45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69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ACE09-F6F6-4815-9485-39FBF205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en-US" altLang="ko-KR" dirty="0" err="1"/>
              <a:t>DispatcherServlet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3ACC4DB-4D88-4668-9C09-E000BF1FD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867" y="863703"/>
            <a:ext cx="6581762" cy="29504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EA2062-C641-4D84-A9AF-64D2B9FF4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145" y="2338925"/>
            <a:ext cx="5000625" cy="4381500"/>
          </a:xfrm>
          <a:prstGeom prst="rect">
            <a:avLst/>
          </a:prstGeom>
        </p:spPr>
      </p:pic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A67B594D-E367-4CB5-A5B5-1DEAD3DB548D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5120183" y="2622712"/>
            <a:ext cx="715527" cy="3098397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44E949-C256-4666-AE29-BCBDD1FD2EE7}"/>
              </a:ext>
            </a:extLst>
          </p:cNvPr>
          <p:cNvSpPr/>
          <p:nvPr/>
        </p:nvSpPr>
        <p:spPr>
          <a:xfrm>
            <a:off x="7219629" y="4385187"/>
            <a:ext cx="1708061" cy="21631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042B32-44B0-445B-86E0-197FBF58E099}"/>
              </a:ext>
            </a:extLst>
          </p:cNvPr>
          <p:cNvSpPr/>
          <p:nvPr/>
        </p:nvSpPr>
        <p:spPr>
          <a:xfrm>
            <a:off x="9726855" y="6322141"/>
            <a:ext cx="1708061" cy="3146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3EC21-E1E3-4A8D-80F0-345DD11A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DispatcherServlet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9E3E9CE-2D50-41B1-B180-52471A5C0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921" y="856329"/>
            <a:ext cx="9400339" cy="586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38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D659F-A101-4F81-84D6-3C8CF18B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이어서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1C0DCB1-AE59-4069-8D1F-08ADB6CF8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527" y="856328"/>
            <a:ext cx="10553085" cy="590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49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0A9C5A-00FC-44D3-9481-D39040E3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MVC </a:t>
            </a:r>
            <a:r>
              <a:rPr lang="ko-KR" altLang="en-US" dirty="0"/>
              <a:t>프레임워크 적요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4D1710-A306-4F6C-8CC4-88F8E132B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99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0CCF3-0FEB-4D8F-8DB3-9F62268F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글 목록 검색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C1ABC-E0E0-4523-B802-2CB617933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1" y="856329"/>
            <a:ext cx="5361709" cy="2702947"/>
          </a:xfrm>
        </p:spPr>
        <p:txBody>
          <a:bodyPr>
            <a:normAutofit/>
          </a:bodyPr>
          <a:lstStyle/>
          <a:p>
            <a:r>
              <a:rPr lang="en-US" altLang="ko-KR" dirty="0"/>
              <a:t>Controller </a:t>
            </a:r>
            <a:r>
              <a:rPr lang="ko-KR" altLang="en-US" dirty="0"/>
              <a:t>인터페이스를 구현한 </a:t>
            </a:r>
            <a:r>
              <a:rPr lang="en-US" altLang="ko-KR" dirty="0" err="1"/>
              <a:t>GetBoardListController</a:t>
            </a:r>
            <a:r>
              <a:rPr lang="en-US" altLang="ko-KR" dirty="0"/>
              <a:t> </a:t>
            </a:r>
            <a:r>
              <a:rPr lang="ko-KR" altLang="en-US" dirty="0"/>
              <a:t>클래스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D7D482-9D42-4278-8646-67FC5F51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2" y="554138"/>
            <a:ext cx="5038725" cy="601027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25FB35-0DBB-4F97-BFF1-8FF9E7804CFB}"/>
              </a:ext>
            </a:extLst>
          </p:cNvPr>
          <p:cNvSpPr/>
          <p:nvPr/>
        </p:nvSpPr>
        <p:spPr>
          <a:xfrm>
            <a:off x="6331974" y="1474839"/>
            <a:ext cx="4109884" cy="685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97288F7-E265-458D-9929-6D2FEBBE90E7}"/>
              </a:ext>
            </a:extLst>
          </p:cNvPr>
          <p:cNvSpPr/>
          <p:nvPr/>
        </p:nvSpPr>
        <p:spPr>
          <a:xfrm>
            <a:off x="6331974" y="2436248"/>
            <a:ext cx="4109884" cy="1889945"/>
          </a:xfrm>
          <a:prstGeom prst="roundRect">
            <a:avLst>
              <a:gd name="adj" fmla="val 678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41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9AD1DC9-F2E7-4C0E-9497-563E2F6FB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9" y="854288"/>
            <a:ext cx="9412599" cy="60037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C79A30-1095-4A3A-9AB6-3E29CDF6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GetBoardListController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B0B456B-615D-4EC3-8FFA-FAB0514A115E}"/>
              </a:ext>
            </a:extLst>
          </p:cNvPr>
          <p:cNvSpPr/>
          <p:nvPr/>
        </p:nvSpPr>
        <p:spPr>
          <a:xfrm>
            <a:off x="1278194" y="4267200"/>
            <a:ext cx="5879690" cy="2182761"/>
          </a:xfrm>
          <a:prstGeom prst="roundRect">
            <a:avLst>
              <a:gd name="adj" fmla="val 6141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C7E85-F94B-44FC-8277-A8D8FD5BA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7FA7C5-956D-4CA9-AB45-CDC5ACD1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6329"/>
            <a:ext cx="9496815" cy="4600574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1D0C4F3-1FB6-4E53-BA23-09ED7A80E28E}"/>
              </a:ext>
            </a:extLst>
          </p:cNvPr>
          <p:cNvSpPr/>
          <p:nvPr/>
        </p:nvSpPr>
        <p:spPr>
          <a:xfrm>
            <a:off x="1494503" y="3529781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2C37E5-8AFF-4C6B-8F2C-00E7D17FAFF8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 flipV="1">
            <a:off x="8013290" y="3677265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2D951DF-80DC-4135-AFBC-CE821FEA0E83}"/>
              </a:ext>
            </a:extLst>
          </p:cNvPr>
          <p:cNvSpPr txBox="1"/>
          <p:nvPr/>
        </p:nvSpPr>
        <p:spPr>
          <a:xfrm>
            <a:off x="8567024" y="3529781"/>
            <a:ext cx="3077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GetBoardListController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2598816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E0170-D7C9-4D06-AE87-04644C3E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글 상세보기 구현 </a:t>
            </a:r>
            <a:r>
              <a:rPr lang="en-US" altLang="ko-KR" dirty="0"/>
              <a:t>– </a:t>
            </a:r>
            <a:r>
              <a:rPr lang="en-US" altLang="ko-KR" dirty="0" err="1"/>
              <a:t>GetBoardController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07E95D4-7A30-46D2-83D3-251752D57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745" y="821659"/>
            <a:ext cx="9190716" cy="586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34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8222D-47E1-4BB7-9B19-F4EF3B17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B26B05F-E9B3-48CC-BE96-1C77E4742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965328"/>
            <a:ext cx="10389255" cy="515033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64E488F-1BED-478F-AFD8-64AAD506582B}"/>
              </a:ext>
            </a:extLst>
          </p:cNvPr>
          <p:cNvSpPr/>
          <p:nvPr/>
        </p:nvSpPr>
        <p:spPr>
          <a:xfrm>
            <a:off x="1494503" y="4031224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A034773-B94F-4057-A310-8CC3FB0464AD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8013290" y="4178708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874169-15CF-4E82-BEB1-F57C971ED960}"/>
              </a:ext>
            </a:extLst>
          </p:cNvPr>
          <p:cNvSpPr txBox="1"/>
          <p:nvPr/>
        </p:nvSpPr>
        <p:spPr>
          <a:xfrm>
            <a:off x="8567024" y="4031224"/>
            <a:ext cx="2731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GetBoardController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1561263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F9745-FE61-4505-B3BE-A5B1F37D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글 수정 구현 </a:t>
            </a:r>
            <a:r>
              <a:rPr lang="en-US" altLang="ko-KR" dirty="0"/>
              <a:t>– </a:t>
            </a:r>
            <a:r>
              <a:rPr lang="en-US" altLang="ko-KR" dirty="0" err="1"/>
              <a:t>UpdateBoardController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0CE918-804A-4B54-A603-C5926820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49" y="740903"/>
            <a:ext cx="9677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3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09481-5422-4E9C-AF03-526E25F9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DB3AA-7A96-4088-93D8-241B1BD88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C088EB-B84E-49EB-A129-B08D01CA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0" y="856329"/>
            <a:ext cx="9742025" cy="483654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6AE5473-5183-4402-A5F8-EFDEAE3D2BA3}"/>
              </a:ext>
            </a:extLst>
          </p:cNvPr>
          <p:cNvSpPr/>
          <p:nvPr/>
        </p:nvSpPr>
        <p:spPr>
          <a:xfrm>
            <a:off x="1494503" y="3834584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8CE8A37-19E7-4CA3-B7C9-F206896EC54F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8013290" y="3982068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7C8D21-589E-42E5-B292-201360871791}"/>
              </a:ext>
            </a:extLst>
          </p:cNvPr>
          <p:cNvSpPr txBox="1"/>
          <p:nvPr/>
        </p:nvSpPr>
        <p:spPr>
          <a:xfrm>
            <a:off x="8567024" y="3834584"/>
            <a:ext cx="3127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UpdateBoardController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3066383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0A195-8C76-47FD-A953-67B2064B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(4)</a:t>
            </a:r>
            <a:r>
              <a:rPr lang="ko-KR" altLang="en-US" dirty="0"/>
              <a:t>글 등록 구현 </a:t>
            </a:r>
            <a:r>
              <a:rPr lang="en-US" altLang="ko-KR" dirty="0"/>
              <a:t>– </a:t>
            </a:r>
            <a:r>
              <a:rPr lang="en-US" altLang="ko-KR" dirty="0" err="1"/>
              <a:t>InsertBoardController</a:t>
            </a:r>
            <a:r>
              <a:rPr lang="ko-KR" altLang="en-US" dirty="0"/>
              <a:t> 클래스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AE64D6-3EF6-4DA8-BE13-BA2911EA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89" y="742950"/>
            <a:ext cx="102489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25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ED86C-DA20-45CA-9A66-58AD0474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6BC63B8-EB28-4AC0-8DC7-76708EFD6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1004811"/>
            <a:ext cx="9482992" cy="4973202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1D0ECEF-A43E-4F8B-9CAD-5152B5AAF7C2}"/>
              </a:ext>
            </a:extLst>
          </p:cNvPr>
          <p:cNvSpPr/>
          <p:nvPr/>
        </p:nvSpPr>
        <p:spPr>
          <a:xfrm>
            <a:off x="1445341" y="4139384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72CDE14-C08B-4D93-B558-4FB722E25463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7964128" y="4286868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B9C639-7362-47A6-9876-7B316C98B174}"/>
              </a:ext>
            </a:extLst>
          </p:cNvPr>
          <p:cNvSpPr txBox="1"/>
          <p:nvPr/>
        </p:nvSpPr>
        <p:spPr>
          <a:xfrm>
            <a:off x="8517862" y="4139384"/>
            <a:ext cx="295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InsertBoardController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3385237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917CE-6869-45F2-BE27-F4F18058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글 삭제</a:t>
            </a:r>
            <a:r>
              <a:rPr lang="en-US" altLang="ko-KR" dirty="0"/>
              <a:t>-</a:t>
            </a:r>
            <a:r>
              <a:rPr lang="en-US" altLang="ko-KR" dirty="0" err="1"/>
              <a:t>DeleteBoardController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AD39EF-C922-4437-8128-2E5CB5FB2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856329"/>
            <a:ext cx="88582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25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58B3B-C6F5-424B-9AB2-64C6AAED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ACE1CED-2C80-4BBC-BADD-F17DE9943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1" y="856329"/>
            <a:ext cx="8950149" cy="4816884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121056C-5C7C-4093-97E7-2C576954A5C7}"/>
              </a:ext>
            </a:extLst>
          </p:cNvPr>
          <p:cNvSpPr/>
          <p:nvPr/>
        </p:nvSpPr>
        <p:spPr>
          <a:xfrm>
            <a:off x="1445341" y="3972240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FBDD741-2E62-4ECA-AF45-F7249BA5E9C1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7964128" y="4119724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CF9160-0B64-4344-890F-25263DDD169B}"/>
              </a:ext>
            </a:extLst>
          </p:cNvPr>
          <p:cNvSpPr txBox="1"/>
          <p:nvPr/>
        </p:nvSpPr>
        <p:spPr>
          <a:xfrm>
            <a:off x="8517862" y="3972240"/>
            <a:ext cx="30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DeleteBoardController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1834347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91DA0-329C-4796-8B52-706BFF45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로그아웃 구현</a:t>
            </a:r>
            <a:r>
              <a:rPr lang="en-US" altLang="ko-KR" dirty="0"/>
              <a:t>-</a:t>
            </a:r>
            <a:r>
              <a:rPr lang="en-US" altLang="ko-KR" dirty="0" err="1"/>
              <a:t>LogoutController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2F7BBC-07DD-40E9-90B2-BC1A213A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30" y="856329"/>
            <a:ext cx="8979980" cy="475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40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85A1E-6C9A-4B9C-9ED2-B95ADBFC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새로운 </a:t>
            </a:r>
            <a:r>
              <a:rPr lang="en-US" altLang="ko-KR" dirty="0"/>
              <a:t>Controller</a:t>
            </a:r>
            <a:r>
              <a:rPr lang="ko-KR" altLang="en-US" dirty="0"/>
              <a:t>를 추가했으므로 </a:t>
            </a:r>
            <a:r>
              <a:rPr lang="en-US" altLang="ko-KR" dirty="0" err="1"/>
              <a:t>HandlerMapping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680D65F-F298-47C7-A76E-B190AD211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490" y="1071562"/>
            <a:ext cx="8557193" cy="505466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E3623D-2B54-4E73-AF73-204043BFC7DD}"/>
              </a:ext>
            </a:extLst>
          </p:cNvPr>
          <p:cNvSpPr/>
          <p:nvPr/>
        </p:nvSpPr>
        <p:spPr>
          <a:xfrm>
            <a:off x="1445341" y="4473683"/>
            <a:ext cx="6518787" cy="2949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7298F52-7041-434F-AFC1-3E823F6D47AF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7964128" y="4621167"/>
            <a:ext cx="553734" cy="37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5DFDB8-FF65-4630-9041-E7C3C6A5D5FC}"/>
              </a:ext>
            </a:extLst>
          </p:cNvPr>
          <p:cNvSpPr txBox="1"/>
          <p:nvPr/>
        </p:nvSpPr>
        <p:spPr>
          <a:xfrm>
            <a:off x="8517862" y="4473683"/>
            <a:ext cx="2497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dirty="0" err="1">
                <a:latin typeface="+mn-ea"/>
              </a:rPr>
              <a:t>LogoutController</a:t>
            </a:r>
            <a:r>
              <a:rPr lang="ko-KR" altLang="en-US" dirty="0">
                <a:latin typeface="+mn-ea"/>
              </a:rPr>
              <a:t> 추가</a:t>
            </a:r>
          </a:p>
        </p:txBody>
      </p:sp>
    </p:spTree>
    <p:extLst>
      <p:ext uri="{BB962C8B-B14F-4D97-AF65-F5344CB8AC3E}">
        <p14:creationId xmlns:p14="http://schemas.microsoft.com/office/powerpoint/2010/main" val="721020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8C2AE-CDD9-480C-9D05-A29A0B29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91" y="170529"/>
            <a:ext cx="4948754" cy="685800"/>
          </a:xfrm>
        </p:spPr>
        <p:txBody>
          <a:bodyPr/>
          <a:lstStyle/>
          <a:p>
            <a:r>
              <a:rPr lang="ko-KR" altLang="en-US"/>
              <a:t>프로젝트 클래스 구조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BB7D12A-16FD-463D-B53B-A027C09A9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885" y="170529"/>
            <a:ext cx="4778631" cy="655190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597C94-72D3-4E77-BD97-6FD4724C6856}"/>
              </a:ext>
            </a:extLst>
          </p:cNvPr>
          <p:cNvSpPr/>
          <p:nvPr/>
        </p:nvSpPr>
        <p:spPr>
          <a:xfrm>
            <a:off x="5958348" y="3195484"/>
            <a:ext cx="2831691" cy="2930013"/>
          </a:xfrm>
          <a:prstGeom prst="roundRect">
            <a:avLst>
              <a:gd name="adj" fmla="val 3820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26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1CA6CA-5DCB-4A81-9D7A-3611621F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</a:t>
            </a:r>
            <a:r>
              <a:rPr lang="en-US" altLang="ko-KR"/>
              <a:t>2 </a:t>
            </a:r>
            <a:r>
              <a:rPr lang="ko-KR" altLang="en-US"/>
              <a:t>실행결과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473CE9-118E-4551-ACD6-38796A8E7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925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6C9E5-85BD-4322-9858-A5CB716B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4778C18-2324-4474-8F7F-A9B4A2620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738" y="988219"/>
            <a:ext cx="1105852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46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47663-73A1-431B-961C-C4EB2299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 목록 보기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EE19C05-D131-4F3E-9013-FCACD1430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738" y="988219"/>
            <a:ext cx="1105852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89398"/>
      </p:ext>
    </p:extLst>
  </p:cSld>
  <p:clrMapOvr>
    <a:masterClrMapping/>
  </p:clrMapOvr>
</p:sld>
</file>

<file path=ppt/theme/theme1.xml><?xml version="1.0" encoding="utf-8"?>
<a:theme xmlns:a="http://schemas.openxmlformats.org/drawingml/2006/main" name="나의테마템플릿04">
  <a:themeElements>
    <a:clrScheme name="사용자 지정 5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7473"/>
      </a:accent1>
      <a:accent2>
        <a:srgbClr val="FFC952"/>
      </a:accent2>
      <a:accent3>
        <a:srgbClr val="47B8E0"/>
      </a:accent3>
      <a:accent4>
        <a:srgbClr val="34314C"/>
      </a:accent4>
      <a:accent5>
        <a:srgbClr val="56A902"/>
      </a:accent5>
      <a:accent6>
        <a:srgbClr val="004E66"/>
      </a:accent6>
      <a:hlink>
        <a:srgbClr val="F68657"/>
      </a:hlink>
      <a:folHlink>
        <a:srgbClr val="56627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나의테마템플릿04" id="{7F52D135-F8FA-403B-AABA-AE22DDBC91EA}" vid="{BAB22242-D26A-4E8F-823A-43129A11C5F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5467</TotalTime>
  <Words>512</Words>
  <Application>Microsoft Office PowerPoint</Application>
  <PresentationFormat>와이드스크린</PresentationFormat>
  <Paragraphs>88</Paragraphs>
  <Slides>39</Slides>
  <Notes>0</Notes>
  <HiddenSlides>3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맑은 고딕</vt:lpstr>
      <vt:lpstr>HY헤드라인M</vt:lpstr>
      <vt:lpstr>Wingdings</vt:lpstr>
      <vt:lpstr>Arial</vt:lpstr>
      <vt:lpstr>나눔고딕코딩</vt:lpstr>
      <vt:lpstr>나의테마템플릿04</vt:lpstr>
      <vt:lpstr>   고급 자바 프로그래밍 : STS를 이용한 Spring 프로그래밍</vt:lpstr>
      <vt:lpstr>4. MVC를  이용한 웹어플리케이션</vt:lpstr>
      <vt:lpstr>4.1 MVC 프레임워크 구조</vt:lpstr>
      <vt:lpstr>스프링 MVC의 수행 흐름</vt:lpstr>
      <vt:lpstr>스프링 MVC를 이용한 웹어플리케이션</vt:lpstr>
      <vt:lpstr>web.xml 수정</vt:lpstr>
      <vt:lpstr>Spring MVC 준비</vt:lpstr>
      <vt:lpstr>Spring MVC 준비 – 스프링의 Controller interface</vt:lpstr>
      <vt:lpstr>4.2 MVC 프레임 구현</vt:lpstr>
      <vt:lpstr>(1) Controller 인터페이스 작성</vt:lpstr>
      <vt:lpstr>src/main/java 폴더에서</vt:lpstr>
      <vt:lpstr>Controller interface – 모든 Controller가 사용</vt:lpstr>
      <vt:lpstr>(2) LoginController 구현</vt:lpstr>
      <vt:lpstr>PowerPoint 프레젠테이션</vt:lpstr>
      <vt:lpstr>(3) HandlerMapping 클래스 작성</vt:lpstr>
      <vt:lpstr>이어서…</vt:lpstr>
      <vt:lpstr>HandlerMapping.java 클래스</vt:lpstr>
      <vt:lpstr>(4) ViewResolver클래스 작성</vt:lpstr>
      <vt:lpstr>(5) DispatcherServlet 수정</vt:lpstr>
      <vt:lpstr>DispatcherServlet 수정</vt:lpstr>
      <vt:lpstr>이어서…</vt:lpstr>
      <vt:lpstr>4.3 MVC 프레임워크 적요</vt:lpstr>
      <vt:lpstr>(1) 글 목록 검색 구현</vt:lpstr>
      <vt:lpstr>GetBoardListController 클래스</vt:lpstr>
      <vt:lpstr>새로운 Controller를 추가했으므로 HandlerMapping 수정</vt:lpstr>
      <vt:lpstr>(2) 글 상세보기 구현 – GetBoardController 클래스</vt:lpstr>
      <vt:lpstr>새로운 Controller를 추가했으므로 HandlerMapping 수정</vt:lpstr>
      <vt:lpstr>(3) 글 수정 구현 – UpdateBoardController 클래스</vt:lpstr>
      <vt:lpstr>새로운 Controller를 추가했으므로 HandlerMapping 수정</vt:lpstr>
      <vt:lpstr>(4)글 등록 구현 – InsertBoardController 클래스 </vt:lpstr>
      <vt:lpstr>새로운 Controller를 추가했으므로 HandlerMapping 수정</vt:lpstr>
      <vt:lpstr>(5) 글 삭제-DeleteBoardController 클래스</vt:lpstr>
      <vt:lpstr>새로운 Controller를 추가했으므로 HandlerMapping 수정</vt:lpstr>
      <vt:lpstr>(6) 로그아웃 구현-LogoutController 클래스</vt:lpstr>
      <vt:lpstr>새로운 Controller를 추가했으므로 HandlerMapping 수정</vt:lpstr>
      <vt:lpstr>프로젝트 클래스 구조</vt:lpstr>
      <vt:lpstr>모델2 실행결과</vt:lpstr>
      <vt:lpstr>PowerPoint 프레젠테이션</vt:lpstr>
      <vt:lpstr>글 목록 보기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박경태</dc:creator>
  <cp:lastModifiedBy>박 경태</cp:lastModifiedBy>
  <cp:revision>536</cp:revision>
  <dcterms:created xsi:type="dcterms:W3CDTF">2016-01-28T14:54:53Z</dcterms:created>
  <dcterms:modified xsi:type="dcterms:W3CDTF">2018-09-22T14:11:18Z</dcterms:modified>
</cp:coreProperties>
</file>