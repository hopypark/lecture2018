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50"/>
  </p:notesMasterIdLst>
  <p:sldIdLst>
    <p:sldId id="256" r:id="rId2"/>
    <p:sldId id="401" r:id="rId3"/>
    <p:sldId id="259" r:id="rId4"/>
    <p:sldId id="260" r:id="rId5"/>
    <p:sldId id="440" r:id="rId6"/>
    <p:sldId id="411" r:id="rId7"/>
    <p:sldId id="437" r:id="rId8"/>
    <p:sldId id="439" r:id="rId9"/>
    <p:sldId id="443" r:id="rId10"/>
    <p:sldId id="441" r:id="rId11"/>
    <p:sldId id="384" r:id="rId12"/>
    <p:sldId id="386" r:id="rId13"/>
    <p:sldId id="388" r:id="rId14"/>
    <p:sldId id="389" r:id="rId15"/>
    <p:sldId id="390" r:id="rId16"/>
    <p:sldId id="391" r:id="rId17"/>
    <p:sldId id="442" r:id="rId18"/>
    <p:sldId id="402" r:id="rId19"/>
    <p:sldId id="412" r:id="rId20"/>
    <p:sldId id="438" r:id="rId21"/>
    <p:sldId id="404" r:id="rId22"/>
    <p:sldId id="444" r:id="rId23"/>
    <p:sldId id="445" r:id="rId24"/>
    <p:sldId id="446" r:id="rId25"/>
    <p:sldId id="447" r:id="rId26"/>
    <p:sldId id="448" r:id="rId27"/>
    <p:sldId id="449" r:id="rId28"/>
    <p:sldId id="450" r:id="rId29"/>
    <p:sldId id="451" r:id="rId30"/>
    <p:sldId id="452" r:id="rId31"/>
    <p:sldId id="453" r:id="rId32"/>
    <p:sldId id="410" r:id="rId33"/>
    <p:sldId id="454" r:id="rId34"/>
    <p:sldId id="469" r:id="rId35"/>
    <p:sldId id="462" r:id="rId36"/>
    <p:sldId id="461" r:id="rId37"/>
    <p:sldId id="463" r:id="rId38"/>
    <p:sldId id="464" r:id="rId39"/>
    <p:sldId id="458" r:id="rId40"/>
    <p:sldId id="460" r:id="rId41"/>
    <p:sldId id="459" r:id="rId42"/>
    <p:sldId id="455" r:id="rId43"/>
    <p:sldId id="456" r:id="rId44"/>
    <p:sldId id="457" r:id="rId45"/>
    <p:sldId id="465" r:id="rId46"/>
    <p:sldId id="466" r:id="rId47"/>
    <p:sldId id="467" r:id="rId48"/>
    <p:sldId id="468" r:id="rId49"/>
  </p:sldIdLst>
  <p:sldSz cx="12192000" cy="6858000"/>
  <p:notesSz cx="6858000" cy="9144000"/>
  <p:embeddedFontLst>
    <p:embeddedFont>
      <p:font typeface="나눔고딕코딩" panose="020B0600000101010101" charset="-127"/>
      <p:regular r:id="rId51"/>
      <p:bold r:id="rId52"/>
    </p:embeddedFont>
    <p:embeddedFont>
      <p:font typeface="HY헤드라인M" panose="02030600000101010101" pitchFamily="18" charset="-127"/>
      <p:regular r:id="rId53"/>
    </p:embeddedFont>
    <p:embeddedFont>
      <p:font typeface="맑은 고딕" panose="020B0503020000020004" pitchFamily="50" charset="-127"/>
      <p:regular r:id="rId54"/>
      <p:bold r:id="rId5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5" autoAdjust="0"/>
    <p:restoredTop sz="86523" autoAdjust="0"/>
  </p:normalViewPr>
  <p:slideViewPr>
    <p:cSldViewPr snapToGrid="0">
      <p:cViewPr varScale="1">
        <p:scale>
          <a:sx n="111" d="100"/>
          <a:sy n="111" d="100"/>
        </p:scale>
        <p:origin x="45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8BD3B-F037-4209-8BE0-1C7BFECA4066}" type="datetimeFigureOut">
              <a:rPr lang="ko-KR" altLang="en-US" smtClean="0"/>
              <a:t>2018-09-25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636CA-6D84-4A16-A9E7-C9512DFD42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911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E9F6-A078-41BC-ABDE-54A9E72A42E4}" type="datetimeFigureOut">
              <a:rPr lang="ko-KR" altLang="en-US" smtClean="0"/>
              <a:t>2018-09-25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538E-3233-4170-8D70-BA57512B6F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95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9491" y="856330"/>
            <a:ext cx="11333018" cy="58651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E9F6-A078-41BC-ABDE-54A9E72A42E4}" type="datetimeFigureOut">
              <a:rPr lang="ko-KR" altLang="en-US" smtClean="0"/>
              <a:t>2018-09-25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538E-3233-4170-8D70-BA57512B6F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615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E9F6-A078-41BC-ABDE-54A9E72A42E4}" type="datetimeFigureOut">
              <a:rPr lang="ko-KR" altLang="en-US" smtClean="0"/>
              <a:t>2018-09-25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538E-3233-4170-8D70-BA57512B6F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5666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E9F6-A078-41BC-ABDE-54A9E72A42E4}" type="datetimeFigureOut">
              <a:rPr lang="ko-KR" altLang="en-US" smtClean="0"/>
              <a:t>2018-09-25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538E-3233-4170-8D70-BA57512B6F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0218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E9F6-A078-41BC-ABDE-54A9E72A42E4}" type="datetimeFigureOut">
              <a:rPr lang="ko-KR" altLang="en-US" smtClean="0"/>
              <a:t>2018-09-25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538E-3233-4170-8D70-BA57512B6F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00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E9F6-A078-41BC-ABDE-54A9E72A42E4}" type="datetimeFigureOut">
              <a:rPr lang="ko-KR" altLang="en-US" smtClean="0"/>
              <a:t>2018-09-25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538E-3233-4170-8D70-BA57512B6F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569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E9F6-A078-41BC-ABDE-54A9E72A42E4}" type="datetimeFigureOut">
              <a:rPr lang="ko-KR" altLang="en-US" smtClean="0"/>
              <a:t>2018-09-25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538E-3233-4170-8D70-BA57512B6FD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429491" y="274320"/>
            <a:ext cx="11333018" cy="644715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950757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E9F6-A078-41BC-ABDE-54A9E72A42E4}" type="datetimeFigureOut">
              <a:rPr lang="ko-KR" altLang="en-US" smtClean="0"/>
              <a:t>2018-09-25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538E-3233-4170-8D70-BA57512B6F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536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E9F6-A078-41BC-ABDE-54A9E72A42E4}" type="datetimeFigureOut">
              <a:rPr lang="ko-KR" altLang="en-US" smtClean="0"/>
              <a:t>2018-09-25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538E-3233-4170-8D70-BA57512B6F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647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E9F6-A078-41BC-ABDE-54A9E72A42E4}" type="datetimeFigureOut">
              <a:rPr lang="ko-KR" altLang="en-US" smtClean="0"/>
              <a:t>2018-09-25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538E-3233-4170-8D70-BA57512B6F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658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E9F6-A078-41BC-ABDE-54A9E72A42E4}" type="datetimeFigureOut">
              <a:rPr lang="ko-KR" altLang="en-US" smtClean="0"/>
              <a:t>2018-09-25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538E-3233-4170-8D70-BA57512B6F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31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29491" y="170529"/>
            <a:ext cx="1133301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29491" y="856330"/>
            <a:ext cx="11333018" cy="5865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DE9F6-A078-41BC-ABDE-54A9E72A42E4}" type="datetimeFigureOut">
              <a:rPr lang="ko-KR" altLang="en-US" smtClean="0"/>
              <a:t>2018-09-25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F538E-3233-4170-8D70-BA57512B6FD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137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accent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1379132" y="4353750"/>
            <a:ext cx="10558409" cy="1896922"/>
          </a:xfrm>
        </p:spPr>
        <p:txBody>
          <a:bodyPr>
            <a:normAutofit fontScale="90000"/>
          </a:bodyPr>
          <a:lstStyle/>
          <a:p>
            <a:pPr algn="r"/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고급 자바 프로그래밍</a:t>
            </a:r>
            <a:br>
              <a:rPr lang="en-US" altLang="ko-KR" dirty="0"/>
            </a:br>
            <a:r>
              <a:rPr lang="en-US" altLang="ko-KR" sz="4000" dirty="0">
                <a:solidFill>
                  <a:schemeClr val="accent1">
                    <a:lumMod val="50000"/>
                  </a:schemeClr>
                </a:solidFill>
              </a:rPr>
              <a:t>: STS</a:t>
            </a:r>
            <a:r>
              <a:rPr lang="ko-KR" altLang="en-US" sz="4000" dirty="0">
                <a:solidFill>
                  <a:schemeClr val="accent1">
                    <a:lumMod val="50000"/>
                  </a:schemeClr>
                </a:solidFill>
              </a:rPr>
              <a:t>를 이용한 </a:t>
            </a:r>
            <a:r>
              <a:rPr lang="en-US" altLang="ko-KR" sz="4000" dirty="0">
                <a:solidFill>
                  <a:schemeClr val="accent1">
                    <a:lumMod val="50000"/>
                  </a:schemeClr>
                </a:solidFill>
              </a:rPr>
              <a:t>Spring </a:t>
            </a:r>
            <a:r>
              <a:rPr lang="ko-KR" altLang="en-US" sz="4000" dirty="0">
                <a:solidFill>
                  <a:schemeClr val="accent1">
                    <a:lumMod val="50000"/>
                  </a:schemeClr>
                </a:solidFill>
              </a:rPr>
              <a:t>프로그래밍</a:t>
            </a:r>
            <a:endParaRPr lang="ko-KR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3498">
            <a:off x="1353159" y="850601"/>
            <a:ext cx="3766744" cy="5247124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8604088" y="4336370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comsi.java@gmail.com</a:t>
            </a:r>
            <a:endParaRPr lang="ko-KR" altLang="en-US" sz="2400" dirty="0"/>
          </a:p>
        </p:txBody>
      </p:sp>
      <p:sp>
        <p:nvSpPr>
          <p:cNvPr id="8" name="직사각형 7"/>
          <p:cNvSpPr/>
          <p:nvPr/>
        </p:nvSpPr>
        <p:spPr>
          <a:xfrm>
            <a:off x="10245563" y="3903632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박 경 태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03506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BCBD4B6-643A-4E17-9707-DCFCEA4B72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en-US" altLang="ko-KR" dirty="0" err="1"/>
              <a:t>SpringMVC</a:t>
            </a:r>
            <a:r>
              <a:rPr lang="en-US" altLang="ko-KR" dirty="0"/>
              <a:t> </a:t>
            </a:r>
            <a:r>
              <a:rPr lang="ko-KR" altLang="en-US" dirty="0"/>
              <a:t>구조</a:t>
            </a: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606F11ED-E49A-4433-B0BA-F3AC349A17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7960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스프링</a:t>
            </a:r>
            <a:r>
              <a:rPr lang="en-US" altLang="ko-KR" dirty="0"/>
              <a:t> MVC</a:t>
            </a:r>
            <a:r>
              <a:rPr lang="ko-KR" altLang="en-US" dirty="0"/>
              <a:t>의 수행 흐름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50100" y="939349"/>
            <a:ext cx="50572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b="1" dirty="0">
                <a:latin typeface="+mn-ea"/>
              </a:rPr>
              <a:t>스프링 </a:t>
            </a:r>
            <a:r>
              <a:rPr lang="en-US" altLang="ko-KR" sz="2000" b="1" dirty="0">
                <a:latin typeface="+mn-ea"/>
              </a:rPr>
              <a:t>MVC</a:t>
            </a:r>
            <a:r>
              <a:rPr lang="ko-KR" altLang="en-US" sz="2000" b="1" dirty="0">
                <a:latin typeface="+mn-ea"/>
              </a:rPr>
              <a:t>의 클라이언트 요청 처리 과정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864351" y="3821696"/>
            <a:ext cx="2176898" cy="6480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latin typeface="+mn-ea"/>
              </a:rPr>
              <a:t>DispatcherServlet</a:t>
            </a:r>
            <a:endParaRPr lang="ko-KR" altLang="en-US" b="1" dirty="0">
              <a:latin typeface="+mn-ea"/>
            </a:endParaRPr>
          </a:p>
        </p:txBody>
      </p:sp>
      <p:pic>
        <p:nvPicPr>
          <p:cNvPr id="6" name="Picture 2" descr="C:\Users\KyungTae\AppData\Local\Microsoft\Windows\Temporary Internet Files\Content.IE5\5V3BVZ06\MC900441537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398438" y="1920456"/>
            <a:ext cx="1108724" cy="1209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71391" y="192045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유저</a:t>
            </a:r>
          </a:p>
        </p:txBody>
      </p:sp>
      <p:cxnSp>
        <p:nvCxnSpPr>
          <p:cNvPr id="8" name="직선 화살표 연결선 7"/>
          <p:cNvCxnSpPr>
            <a:stCxn id="6" idx="2"/>
            <a:endCxn id="5" idx="0"/>
          </p:cNvCxnSpPr>
          <p:nvPr/>
        </p:nvCxnSpPr>
        <p:spPr>
          <a:xfrm>
            <a:off x="1952800" y="3130454"/>
            <a:ext cx="0" cy="69124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6157847" y="1641716"/>
            <a:ext cx="2176898" cy="6480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latin typeface="+mn-ea"/>
              </a:rPr>
              <a:t>HandlerMapping</a:t>
            </a:r>
            <a:endParaRPr lang="ko-KR" altLang="en-US" b="1" dirty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089608" y="2972546"/>
            <a:ext cx="2176898" cy="6480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Controller</a:t>
            </a:r>
            <a:endParaRPr lang="ko-KR" altLang="en-US" b="1" dirty="0"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9089608" y="4710923"/>
            <a:ext cx="2176898" cy="6480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latin typeface="+mn-ea"/>
              </a:rPr>
              <a:t>ViewResolver</a:t>
            </a:r>
            <a:endParaRPr lang="ko-KR" altLang="en-US" b="1" dirty="0"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178147" y="6146915"/>
            <a:ext cx="2176898" cy="6480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View</a:t>
            </a:r>
            <a:endParaRPr lang="ko-KR" altLang="en-US" b="1" dirty="0">
              <a:latin typeface="+mn-ea"/>
            </a:endParaRPr>
          </a:p>
        </p:txBody>
      </p:sp>
      <p:cxnSp>
        <p:nvCxnSpPr>
          <p:cNvPr id="14" name="직선 화살표 연결선 13"/>
          <p:cNvCxnSpPr>
            <a:cxnSpLocks/>
            <a:stCxn id="9" idx="3"/>
            <a:endCxn id="10" idx="0"/>
          </p:cNvCxnSpPr>
          <p:nvPr/>
        </p:nvCxnSpPr>
        <p:spPr>
          <a:xfrm>
            <a:off x="8334745" y="1965752"/>
            <a:ext cx="1843312" cy="100679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944629" y="3146015"/>
            <a:ext cx="15456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1.</a:t>
            </a:r>
            <a:r>
              <a:rPr lang="ko-KR" altLang="en-US" sz="1400" dirty="0"/>
              <a:t>처리요청</a:t>
            </a:r>
            <a:r>
              <a:rPr lang="en-US" altLang="ko-KR" sz="1400" dirty="0"/>
              <a:t>(URL)</a:t>
            </a:r>
            <a:endParaRPr lang="ko-KR" altLang="en-US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3226086" y="1695771"/>
            <a:ext cx="2050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2.</a:t>
            </a:r>
            <a:r>
              <a:rPr lang="ko-KR" altLang="en-US" sz="1400" dirty="0"/>
              <a:t>요청</a:t>
            </a:r>
            <a:r>
              <a:rPr lang="en-US" altLang="ko-KR" sz="1400" dirty="0"/>
              <a:t>URL</a:t>
            </a:r>
            <a:r>
              <a:rPr lang="ko-KR" altLang="en-US" sz="1400" dirty="0"/>
              <a:t>과 </a:t>
            </a:r>
            <a:r>
              <a:rPr lang="ko-KR" altLang="en-US" sz="1400" dirty="0" err="1"/>
              <a:t>매핑되는</a:t>
            </a:r>
            <a:r>
              <a:rPr lang="ko-KR" altLang="en-US" sz="1400" dirty="0"/>
              <a:t> </a:t>
            </a:r>
            <a:r>
              <a:rPr lang="en-US" altLang="ko-KR" sz="1400" dirty="0"/>
              <a:t>Controller </a:t>
            </a:r>
            <a:r>
              <a:rPr lang="ko-KR" altLang="en-US" sz="1400" dirty="0"/>
              <a:t>검색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6936" y="2093874"/>
            <a:ext cx="2580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3.</a:t>
            </a:r>
            <a:r>
              <a:rPr lang="ko-KR" altLang="en-US" sz="1400" dirty="0"/>
              <a:t>해당 </a:t>
            </a:r>
            <a:r>
              <a:rPr lang="en-US" altLang="ko-KR" sz="1400" dirty="0"/>
              <a:t>Controller</a:t>
            </a:r>
            <a:r>
              <a:rPr lang="ko-KR" altLang="en-US" sz="1400" dirty="0"/>
              <a:t>에 처리요청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1934" y="3313609"/>
            <a:ext cx="22563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4.</a:t>
            </a:r>
            <a:r>
              <a:rPr lang="ko-KR" altLang="en-US" sz="1400" dirty="0"/>
              <a:t> 처리 결과 </a:t>
            </a:r>
            <a:r>
              <a:rPr lang="en-US" altLang="ko-KR" sz="1400" b="1" dirty="0" err="1">
                <a:solidFill>
                  <a:srgbClr val="FF0000"/>
                </a:solidFill>
              </a:rPr>
              <a:t>ModelAndView</a:t>
            </a:r>
            <a:r>
              <a:rPr lang="en-US" altLang="ko-KR" sz="1400" dirty="0"/>
              <a:t> </a:t>
            </a:r>
            <a:r>
              <a:rPr lang="ko-KR" altLang="en-US" sz="1400" dirty="0"/>
              <a:t>모델과 </a:t>
            </a:r>
            <a:r>
              <a:rPr lang="ko-KR" altLang="en-US" sz="1400" dirty="0" err="1"/>
              <a:t>뷰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정보리턴</a:t>
            </a:r>
            <a:endParaRPr lang="ko-KR" altLang="en-US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7198054" y="5107229"/>
            <a:ext cx="18915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5.</a:t>
            </a:r>
            <a:r>
              <a:rPr lang="ko-KR" altLang="en-US" sz="1400" dirty="0"/>
              <a:t> 컨트롤러에서 보내온 실행결과와 결과를 보여줄 </a:t>
            </a:r>
            <a:r>
              <a:rPr lang="en-US" altLang="ko-KR" sz="1400" dirty="0"/>
              <a:t>View </a:t>
            </a:r>
            <a:r>
              <a:rPr lang="ko-KR" altLang="en-US" sz="1400" dirty="0"/>
              <a:t>검색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3878" y="5747526"/>
            <a:ext cx="1218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6.</a:t>
            </a:r>
            <a:r>
              <a:rPr lang="ko-KR" altLang="en-US" sz="1400" dirty="0"/>
              <a:t> 결과 출력</a:t>
            </a: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AAAFE69B-56B0-4408-8299-9C5520502DE5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3020395" y="1965752"/>
            <a:ext cx="3137452" cy="201535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921295F6-BB22-41B2-9451-B9D3CD6D5360}"/>
              </a:ext>
            </a:extLst>
          </p:cNvPr>
          <p:cNvCxnSpPr>
            <a:stCxn id="10" idx="1"/>
            <a:endCxn id="5" idx="3"/>
          </p:cNvCxnSpPr>
          <p:nvPr/>
        </p:nvCxnSpPr>
        <p:spPr>
          <a:xfrm rot="10800000" flipV="1">
            <a:off x="3041250" y="3296582"/>
            <a:ext cx="6048359" cy="849150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6FE256A2-461B-417D-9258-D1E781B530D6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041249" y="4353295"/>
            <a:ext cx="6048359" cy="681664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EB8F450F-7DBF-42BC-904D-9BB6B954E467}"/>
              </a:ext>
            </a:extLst>
          </p:cNvPr>
          <p:cNvCxnSpPr>
            <a:stCxn id="12" idx="1"/>
            <a:endCxn id="5" idx="2"/>
          </p:cNvCxnSpPr>
          <p:nvPr/>
        </p:nvCxnSpPr>
        <p:spPr>
          <a:xfrm flipH="1" flipV="1">
            <a:off x="1952800" y="4469768"/>
            <a:ext cx="4225347" cy="20011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A0A661E9-C6BE-4EC1-8E09-4F4E6FCE3520}"/>
              </a:ext>
            </a:extLst>
          </p:cNvPr>
          <p:cNvCxnSpPr/>
          <p:nvPr/>
        </p:nvCxnSpPr>
        <p:spPr>
          <a:xfrm flipV="1">
            <a:off x="1751163" y="3145141"/>
            <a:ext cx="0" cy="6765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67E4D02-2832-4C12-A4D9-FA81118FAF19}"/>
              </a:ext>
            </a:extLst>
          </p:cNvPr>
          <p:cNvSpPr txBox="1"/>
          <p:nvPr/>
        </p:nvSpPr>
        <p:spPr>
          <a:xfrm>
            <a:off x="276952" y="3413540"/>
            <a:ext cx="15263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7. </a:t>
            </a:r>
            <a:r>
              <a:rPr lang="ko-KR" altLang="en-US" sz="1400" dirty="0"/>
              <a:t>최종결과 출력</a:t>
            </a:r>
          </a:p>
        </p:txBody>
      </p:sp>
    </p:spTree>
    <p:extLst>
      <p:ext uri="{BB962C8B-B14F-4D97-AF65-F5344CB8AC3E}">
        <p14:creationId xmlns:p14="http://schemas.microsoft.com/office/powerpoint/2010/main" val="599615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스프링</a:t>
            </a:r>
            <a:r>
              <a:rPr lang="en-US" altLang="ko-KR" dirty="0"/>
              <a:t> MVC</a:t>
            </a:r>
            <a:r>
              <a:rPr lang="ko-KR" altLang="en-US" dirty="0"/>
              <a:t>를 이용한 </a:t>
            </a:r>
            <a:r>
              <a:rPr lang="ko-KR" altLang="en-US" dirty="0" err="1"/>
              <a:t>웹어플리케이션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17689" y="1140179"/>
            <a:ext cx="11356622" cy="530002"/>
          </a:xfrm>
        </p:spPr>
        <p:txBody>
          <a:bodyPr/>
          <a:lstStyle/>
          <a:p>
            <a:r>
              <a:rPr lang="ko-KR" altLang="en-US" dirty="0"/>
              <a:t>스프링 </a:t>
            </a:r>
            <a:r>
              <a:rPr lang="en-US" altLang="ko-KR" dirty="0"/>
              <a:t>MVC</a:t>
            </a:r>
            <a:r>
              <a:rPr lang="ko-KR" altLang="en-US" dirty="0"/>
              <a:t>의 주요 구성 요소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750099" y="1670181"/>
          <a:ext cx="10707893" cy="48759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6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0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구성요소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2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>
                          <a:latin typeface="+mn-ea"/>
                          <a:ea typeface="+mn-ea"/>
                        </a:rPr>
                        <a:t>DispatcherServlet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클라이언트의 요청을 전달 받는다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1600" baseline="0" dirty="0">
                          <a:latin typeface="+mn-ea"/>
                          <a:ea typeface="+mn-ea"/>
                        </a:rPr>
                        <a:t> Controller</a:t>
                      </a:r>
                      <a:r>
                        <a:rPr lang="ko-KR" altLang="en-US" sz="1600" baseline="0" dirty="0">
                          <a:latin typeface="+mn-ea"/>
                          <a:ea typeface="+mn-ea"/>
                        </a:rPr>
                        <a:t>에게 클라이언트의 요청을 전달하고</a:t>
                      </a:r>
                      <a:r>
                        <a:rPr lang="en-US" altLang="ko-KR" sz="1600" baseline="0" dirty="0">
                          <a:latin typeface="+mn-ea"/>
                          <a:ea typeface="+mn-ea"/>
                        </a:rPr>
                        <a:t>, Controller</a:t>
                      </a:r>
                      <a:r>
                        <a:rPr lang="ko-KR" altLang="en-US" sz="1600" baseline="0" dirty="0">
                          <a:latin typeface="+mn-ea"/>
                          <a:ea typeface="+mn-ea"/>
                        </a:rPr>
                        <a:t>가 </a:t>
                      </a:r>
                      <a:r>
                        <a:rPr lang="ko-KR" altLang="en-US" sz="1600" baseline="0" dirty="0" err="1">
                          <a:latin typeface="+mn-ea"/>
                          <a:ea typeface="+mn-ea"/>
                        </a:rPr>
                        <a:t>리턴한</a:t>
                      </a:r>
                      <a:r>
                        <a:rPr lang="ko-KR" altLang="en-US" sz="1600" baseline="0" dirty="0">
                          <a:latin typeface="+mn-ea"/>
                          <a:ea typeface="+mn-ea"/>
                        </a:rPr>
                        <a:t> 결과값을 </a:t>
                      </a:r>
                      <a:r>
                        <a:rPr lang="en-US" altLang="ko-KR" sz="1600" baseline="0" dirty="0">
                          <a:latin typeface="+mn-ea"/>
                          <a:ea typeface="+mn-ea"/>
                        </a:rPr>
                        <a:t>View</a:t>
                      </a:r>
                      <a:r>
                        <a:rPr lang="ko-KR" altLang="en-US" sz="1600" baseline="0" dirty="0">
                          <a:latin typeface="+mn-ea"/>
                          <a:ea typeface="+mn-ea"/>
                        </a:rPr>
                        <a:t>에 전달하여 알맞은 응답을 생성하도록 한다</a:t>
                      </a:r>
                      <a:r>
                        <a:rPr lang="en-US" altLang="ko-KR" sz="1600" baseline="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92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>
                          <a:latin typeface="+mn-ea"/>
                          <a:ea typeface="+mn-ea"/>
                        </a:rPr>
                        <a:t>HandlerMapping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클라이언트의 요청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URL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을 어떤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Controller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가 처리할지를 결정한다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9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+mn-ea"/>
                          <a:ea typeface="+mn-ea"/>
                        </a:rPr>
                        <a:t>Controller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클라이언트의 요청을 처리한 뒤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그 결과를 </a:t>
                      </a:r>
                      <a:r>
                        <a:rPr lang="en-US" altLang="ko-KR" sz="1600" dirty="0" err="1">
                          <a:latin typeface="+mn-ea"/>
                          <a:ea typeface="+mn-ea"/>
                        </a:rPr>
                        <a:t>DispatcherServlet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에 알려 준다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 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92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>
                          <a:latin typeface="+mn-ea"/>
                          <a:ea typeface="+mn-ea"/>
                        </a:rPr>
                        <a:t>ModelAndView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Controller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가 처리한 결과 정보</a:t>
                      </a:r>
                      <a:r>
                        <a:rPr lang="ko-KR" altLang="en-US" sz="1600" baseline="0" dirty="0">
                          <a:latin typeface="+mn-ea"/>
                          <a:ea typeface="+mn-ea"/>
                        </a:rPr>
                        <a:t> 및 </a:t>
                      </a:r>
                      <a:r>
                        <a:rPr lang="ko-KR" altLang="en-US" sz="1600" baseline="0" dirty="0" err="1">
                          <a:latin typeface="+mn-ea"/>
                          <a:ea typeface="+mn-ea"/>
                        </a:rPr>
                        <a:t>뷰</a:t>
                      </a:r>
                      <a:r>
                        <a:rPr lang="ko-KR" altLang="en-US" sz="1600" baseline="0" dirty="0">
                          <a:latin typeface="+mn-ea"/>
                          <a:ea typeface="+mn-ea"/>
                        </a:rPr>
                        <a:t> 선택에 필요한 정보를 담는다</a:t>
                      </a:r>
                      <a:r>
                        <a:rPr lang="en-US" altLang="ko-KR" sz="1600" baseline="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92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>
                          <a:latin typeface="+mn-ea"/>
                          <a:ea typeface="+mn-ea"/>
                        </a:rPr>
                        <a:t>ViewResolver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Controller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의 처리 결과를 생성할 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View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를</a:t>
                      </a:r>
                      <a:r>
                        <a:rPr lang="ko-KR" altLang="en-US" sz="1600" baseline="0" dirty="0">
                          <a:latin typeface="+mn-ea"/>
                          <a:ea typeface="+mn-ea"/>
                        </a:rPr>
                        <a:t> 결정한다</a:t>
                      </a:r>
                      <a:r>
                        <a:rPr lang="en-US" altLang="ko-KR" sz="1600" baseline="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92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+mn-ea"/>
                          <a:ea typeface="+mn-ea"/>
                        </a:rPr>
                        <a:t>View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Controller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의 처리 결과 화면을 생성한다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9485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8DDDD35-A5A4-4C39-A540-8378616EB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en-US" altLang="ko-KR" dirty="0" err="1"/>
              <a:t>DispatcherServlet</a:t>
            </a:r>
            <a:r>
              <a:rPr lang="en-US" altLang="ko-KR" dirty="0"/>
              <a:t> </a:t>
            </a:r>
            <a:r>
              <a:rPr lang="ko-KR" altLang="en-US" dirty="0"/>
              <a:t>등록 및 스프링컨테이너 구동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64A1737-57D4-453A-929C-BFAB7DBD2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408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940D9826-6505-4111-AF19-D106663CF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72" y="1550732"/>
            <a:ext cx="10394487" cy="39946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A039F3D-ECB1-4D11-BBB2-1AEEA5743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5.2.1 </a:t>
            </a:r>
            <a:r>
              <a:rPr lang="en-US" altLang="ko-KR" dirty="0" err="1"/>
              <a:t>DispatcherServlet</a:t>
            </a:r>
            <a:r>
              <a:rPr lang="en-US" altLang="ko-KR" dirty="0"/>
              <a:t> </a:t>
            </a:r>
            <a:r>
              <a:rPr lang="ko-KR" altLang="en-US" dirty="0"/>
              <a:t>등록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C60E04-DCF5-486E-8666-E9EFA9735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우선 </a:t>
            </a:r>
            <a:r>
              <a:rPr lang="en-US" altLang="ko-KR" dirty="0"/>
              <a:t>web.xml </a:t>
            </a:r>
            <a:r>
              <a:rPr lang="ko-KR" altLang="en-US" dirty="0"/>
              <a:t>파일을 수정하자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7676107-B9A9-44A5-8B95-F1F5E3C5F969}"/>
              </a:ext>
            </a:extLst>
          </p:cNvPr>
          <p:cNvSpPr/>
          <p:nvPr/>
        </p:nvSpPr>
        <p:spPr>
          <a:xfrm>
            <a:off x="1192522" y="3429000"/>
            <a:ext cx="9409472" cy="304800"/>
          </a:xfrm>
          <a:prstGeom prst="roundRect">
            <a:avLst>
              <a:gd name="adj" fmla="val 6500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FC5EB10-92FB-4DCD-93EA-E1F94839967B}"/>
              </a:ext>
            </a:extLst>
          </p:cNvPr>
          <p:cNvSpPr/>
          <p:nvPr/>
        </p:nvSpPr>
        <p:spPr>
          <a:xfrm>
            <a:off x="1192523" y="3767752"/>
            <a:ext cx="9409472" cy="423711"/>
          </a:xfrm>
          <a:prstGeom prst="roundRect">
            <a:avLst>
              <a:gd name="adj" fmla="val 6500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연결선: 구부러짐 6">
            <a:extLst>
              <a:ext uri="{FF2B5EF4-FFF2-40B4-BE49-F238E27FC236}">
                <a16:creationId xmlns:a16="http://schemas.microsoft.com/office/drawing/2014/main" id="{ACD39E1D-950D-47EB-9E32-28D4A7798BD2}"/>
              </a:ext>
            </a:extLst>
          </p:cNvPr>
          <p:cNvCxnSpPr>
            <a:cxnSpLocks/>
            <a:stCxn id="5" idx="1"/>
            <a:endCxn id="6" idx="1"/>
          </p:cNvCxnSpPr>
          <p:nvPr/>
        </p:nvCxnSpPr>
        <p:spPr>
          <a:xfrm rot="10800000" flipH="1" flipV="1">
            <a:off x="1192521" y="3581400"/>
            <a:ext cx="1" cy="398208"/>
          </a:xfrm>
          <a:prstGeom prst="curvedConnector3">
            <a:avLst>
              <a:gd name="adj1" fmla="val -2286000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78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E1BEECD-176C-4DD0-A6C5-3B51813AF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1" y="856329"/>
            <a:ext cx="11087100" cy="3571875"/>
          </a:xfrm>
          <a:prstGeom prst="rect">
            <a:avLst/>
          </a:prstGeom>
        </p:spPr>
      </p:pic>
      <p:sp>
        <p:nvSpPr>
          <p:cNvPr id="7" name="제목 6">
            <a:extLst>
              <a:ext uri="{FF2B5EF4-FFF2-40B4-BE49-F238E27FC236}">
                <a16:creationId xmlns:a16="http://schemas.microsoft.com/office/drawing/2014/main" id="{87FFE17A-747A-4092-87B1-3A4A95081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5.2.2 </a:t>
            </a:r>
            <a:r>
              <a:rPr lang="ko-KR" altLang="en-US" dirty="0"/>
              <a:t>스프링 컨테이너 구동 </a:t>
            </a:r>
            <a:r>
              <a:rPr lang="en-US" altLang="ko-KR" dirty="0">
                <a:sym typeface="Wingdings" panose="05000000000000000000" pitchFamily="2" charset="2"/>
              </a:rPr>
              <a:t> login.do </a:t>
            </a:r>
            <a:r>
              <a:rPr lang="ko-KR" altLang="en-US" dirty="0">
                <a:sym typeface="Wingdings" panose="05000000000000000000" pitchFamily="2" charset="2"/>
              </a:rPr>
              <a:t>실행 후 오류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9EF9481-0E5A-4E32-A3FC-B6CF45E0C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91" y="4729316"/>
            <a:ext cx="11333018" cy="1992160"/>
          </a:xfrm>
        </p:spPr>
        <p:txBody>
          <a:bodyPr>
            <a:normAutofit/>
          </a:bodyPr>
          <a:lstStyle/>
          <a:p>
            <a:r>
              <a:rPr lang="ko-KR" altLang="en-US" dirty="0"/>
              <a:t>서버가 구동되면 </a:t>
            </a:r>
            <a:r>
              <a:rPr lang="en-US" altLang="ko-KR" dirty="0" err="1"/>
              <a:t>DispatcherServlet</a:t>
            </a:r>
            <a:r>
              <a:rPr lang="ko-KR" altLang="en-US" dirty="0"/>
              <a:t>이 구동되어 서버가</a:t>
            </a:r>
            <a:r>
              <a:rPr lang="en-US" altLang="ko-KR" dirty="0" err="1"/>
              <a:t>XmlWebApplicationContext</a:t>
            </a:r>
            <a:r>
              <a:rPr lang="ko-KR" altLang="en-US" dirty="0"/>
              <a:t>라는 스프링 컨테이너가 </a:t>
            </a:r>
            <a:r>
              <a:rPr lang="ko-KR" altLang="en-US" dirty="0" err="1"/>
              <a:t>구동시킨다</a:t>
            </a:r>
            <a:r>
              <a:rPr lang="en-US" altLang="ko-KR" dirty="0"/>
              <a:t>.</a:t>
            </a:r>
          </a:p>
          <a:p>
            <a:r>
              <a:rPr lang="en-US" altLang="ko-KR" b="1" dirty="0">
                <a:solidFill>
                  <a:srgbClr val="FF0000"/>
                </a:solidFill>
              </a:rPr>
              <a:t>Bean</a:t>
            </a:r>
            <a:r>
              <a:rPr lang="ko-KR" altLang="en-US" b="1" dirty="0">
                <a:solidFill>
                  <a:srgbClr val="FF0000"/>
                </a:solidFill>
              </a:rPr>
              <a:t> 정의 </a:t>
            </a:r>
            <a:r>
              <a:rPr lang="en-US" altLang="ko-KR" b="1" dirty="0">
                <a:solidFill>
                  <a:srgbClr val="FF0000"/>
                </a:solidFill>
              </a:rPr>
              <a:t>xml </a:t>
            </a:r>
            <a:r>
              <a:rPr lang="ko-KR" altLang="en-US" b="1" dirty="0">
                <a:solidFill>
                  <a:srgbClr val="FF0000"/>
                </a:solidFill>
              </a:rPr>
              <a:t>파일 없어서</a:t>
            </a:r>
            <a:r>
              <a:rPr lang="en-US" altLang="ko-KR" b="1" dirty="0">
                <a:solidFill>
                  <a:srgbClr val="FF0000"/>
                </a:solidFill>
              </a:rPr>
              <a:t>…(</a:t>
            </a:r>
            <a:r>
              <a:rPr lang="ko-KR" altLang="en-US" b="1" dirty="0">
                <a:solidFill>
                  <a:srgbClr val="FF0000"/>
                </a:solidFill>
              </a:rPr>
              <a:t>박스 마지막 줄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4FD4FBE-5A33-4908-860C-5CD5B23812B2}"/>
              </a:ext>
            </a:extLst>
          </p:cNvPr>
          <p:cNvSpPr/>
          <p:nvPr/>
        </p:nvSpPr>
        <p:spPr>
          <a:xfrm>
            <a:off x="429491" y="1858297"/>
            <a:ext cx="11087100" cy="101272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095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6F0E9C09-F217-4579-AA4A-DD629642A1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4736" y="2953289"/>
            <a:ext cx="10146890" cy="3112790"/>
          </a:xfrm>
          <a:prstGeom prst="rect">
            <a:avLst/>
          </a:prstGeom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04A7820-BF8C-4C9B-B731-38B1FE14326F}"/>
              </a:ext>
            </a:extLst>
          </p:cNvPr>
          <p:cNvSpPr txBox="1">
            <a:spLocks/>
          </p:cNvSpPr>
          <p:nvPr/>
        </p:nvSpPr>
        <p:spPr>
          <a:xfrm>
            <a:off x="156498" y="126086"/>
            <a:ext cx="11543889" cy="3049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 err="1"/>
              <a:t>SpringMVC</a:t>
            </a:r>
            <a:r>
              <a:rPr lang="ko-KR" altLang="en-US" sz="2400" dirty="0"/>
              <a:t>의 구성요소 중에서 </a:t>
            </a:r>
            <a:r>
              <a:rPr lang="en-US" altLang="ko-KR" sz="2400" dirty="0" err="1"/>
              <a:t>DispatcherServlet</a:t>
            </a:r>
            <a:r>
              <a:rPr lang="en-US" altLang="ko-KR" sz="2400" dirty="0"/>
              <a:t> </a:t>
            </a:r>
            <a:r>
              <a:rPr lang="ko-KR" altLang="en-US" sz="2400" dirty="0"/>
              <a:t>클래스가 유일한 </a:t>
            </a:r>
            <a:r>
              <a:rPr lang="ko-KR" altLang="en-US" sz="2400" dirty="0" err="1"/>
              <a:t>서블릿이고</a:t>
            </a:r>
            <a:r>
              <a:rPr lang="ko-KR" altLang="en-US" sz="2400" dirty="0"/>
              <a:t> </a:t>
            </a:r>
            <a:r>
              <a:rPr lang="en-US" altLang="ko-KR" sz="2400" dirty="0"/>
              <a:t>web.xml </a:t>
            </a:r>
            <a:r>
              <a:rPr lang="ko-KR" altLang="en-US" sz="2400" dirty="0"/>
              <a:t>파일에서 등록된 </a:t>
            </a:r>
            <a:r>
              <a:rPr lang="en-US" altLang="ko-KR" sz="2400" dirty="0" err="1"/>
              <a:t>DispatcherServlet</a:t>
            </a:r>
            <a:r>
              <a:rPr lang="ko-KR" altLang="en-US" sz="2400" dirty="0"/>
              <a:t>만 생성</a:t>
            </a:r>
            <a:endParaRPr lang="en-US" altLang="ko-KR" sz="2400" dirty="0"/>
          </a:p>
          <a:p>
            <a:r>
              <a:rPr lang="en-US" altLang="ko-KR" sz="2400" dirty="0" err="1"/>
              <a:t>DispatcherServlet</a:t>
            </a:r>
            <a:r>
              <a:rPr lang="en-US" altLang="ko-KR" sz="2400" dirty="0"/>
              <a:t> </a:t>
            </a:r>
            <a:r>
              <a:rPr lang="ko-KR" altLang="en-US" sz="2400" dirty="0"/>
              <a:t>객체 혼자서는 클라이언트의 요청을 처리할 수 없고</a:t>
            </a:r>
            <a:r>
              <a:rPr lang="en-US" altLang="ko-KR" sz="2400" dirty="0"/>
              <a:t>,</a:t>
            </a:r>
            <a:r>
              <a:rPr lang="ko-KR" altLang="en-US" sz="2400" dirty="0"/>
              <a:t> 반드시 </a:t>
            </a:r>
            <a:r>
              <a:rPr lang="en-US" altLang="ko-KR" sz="2400" dirty="0" err="1"/>
              <a:t>HandlerMapping</a:t>
            </a:r>
            <a:r>
              <a:rPr lang="en-US" altLang="ko-KR" sz="2400" dirty="0"/>
              <a:t>, Controller, </a:t>
            </a:r>
            <a:r>
              <a:rPr lang="en-US" altLang="ko-KR" sz="2400" dirty="0" err="1"/>
              <a:t>ViewResolver</a:t>
            </a:r>
            <a:r>
              <a:rPr lang="ko-KR" altLang="en-US" sz="2400" dirty="0"/>
              <a:t>객체들과 상호작용해야 한다</a:t>
            </a:r>
            <a:r>
              <a:rPr lang="en-US" altLang="ko-KR" sz="2400" dirty="0"/>
              <a:t>. </a:t>
            </a:r>
            <a:r>
              <a:rPr lang="ko-KR" altLang="en-US" sz="2400" dirty="0"/>
              <a:t>이들을 사용하기 위해 </a:t>
            </a:r>
            <a:r>
              <a:rPr lang="en-US" altLang="ko-KR" sz="2400" dirty="0" err="1"/>
              <a:t>DispatcherServlet</a:t>
            </a:r>
            <a:r>
              <a:rPr lang="ko-KR" altLang="en-US" sz="2400" dirty="0"/>
              <a:t>은 스프링 컨테이너를 구동하는 것임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유저가 직접 </a:t>
            </a:r>
            <a:r>
              <a:rPr lang="en-US" altLang="ko-KR" sz="2400" dirty="0" err="1"/>
              <a:t>DispatcherServlet</a:t>
            </a:r>
            <a:r>
              <a:rPr lang="en-US" altLang="ko-KR" sz="2400" dirty="0"/>
              <a:t> </a:t>
            </a:r>
            <a:r>
              <a:rPr lang="ko-KR" altLang="en-US" sz="2400" dirty="0"/>
              <a:t>생성할 경우에는 </a:t>
            </a:r>
            <a:r>
              <a:rPr lang="en-US" altLang="ko-KR" sz="2400" dirty="0" err="1"/>
              <a:t>init</a:t>
            </a:r>
            <a:r>
              <a:rPr lang="en-US" altLang="ko-KR" sz="2400" dirty="0"/>
              <a:t>()</a:t>
            </a:r>
            <a:r>
              <a:rPr lang="ko-KR" altLang="en-US" sz="2400" dirty="0"/>
              <a:t>에서 직접 생성했지만 스프링에서는 스프링컨테이너를 통해 객체를 생성하는 것이 다를 뿐임</a:t>
            </a:r>
            <a:r>
              <a:rPr lang="en-US" altLang="ko-KR" sz="2400" dirty="0"/>
              <a:t>.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C7961BF-2D9A-41C0-ADFA-EDB02B98EA3A}"/>
              </a:ext>
            </a:extLst>
          </p:cNvPr>
          <p:cNvSpPr/>
          <p:nvPr/>
        </p:nvSpPr>
        <p:spPr>
          <a:xfrm>
            <a:off x="1612490" y="4660490"/>
            <a:ext cx="5909187" cy="10127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2875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51133" y="3038168"/>
            <a:ext cx="3421787" cy="22151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latin typeface="+mn-ea"/>
              </a:rPr>
              <a:t>DispatcherServlet</a:t>
            </a:r>
            <a:endParaRPr lang="en-US" altLang="ko-KR" b="1" dirty="0">
              <a:latin typeface="+mn-ea"/>
            </a:endParaRPr>
          </a:p>
          <a:p>
            <a:pPr algn="ctr"/>
            <a:endParaRPr lang="en-US" altLang="ko-KR" b="1" dirty="0">
              <a:latin typeface="+mn-ea"/>
            </a:endParaRPr>
          </a:p>
          <a:p>
            <a:pPr algn="ctr"/>
            <a:endParaRPr lang="en-US" altLang="ko-KR" b="1" dirty="0">
              <a:latin typeface="+mn-ea"/>
            </a:endParaRPr>
          </a:p>
          <a:p>
            <a:pPr algn="ctr"/>
            <a:endParaRPr lang="en-US" altLang="ko-KR" b="1" dirty="0">
              <a:latin typeface="+mn-ea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D478E45-825E-4F49-97AE-9158099B3A50}"/>
              </a:ext>
            </a:extLst>
          </p:cNvPr>
          <p:cNvSpPr/>
          <p:nvPr/>
        </p:nvSpPr>
        <p:spPr>
          <a:xfrm>
            <a:off x="204237" y="3878223"/>
            <a:ext cx="3315580" cy="7958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err="1">
                <a:solidFill>
                  <a:schemeClr val="tx1"/>
                </a:solidFill>
                <a:latin typeface="+mn-ea"/>
              </a:rPr>
              <a:t>init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(){</a:t>
            </a:r>
          </a:p>
          <a:p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   new </a:t>
            </a:r>
            <a:r>
              <a:rPr lang="en-US" altLang="ko-KR" sz="1400" b="1" dirty="0" err="1">
                <a:solidFill>
                  <a:schemeClr val="tx1"/>
                </a:solidFill>
                <a:latin typeface="+mn-ea"/>
              </a:rPr>
              <a:t>XmlWebApplicationContext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( )</a:t>
            </a:r>
          </a:p>
          <a:p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}</a:t>
            </a:r>
            <a:endParaRPr lang="ko-KR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12B3ACA-E2B0-41E5-8C77-1E8B15AA641F}"/>
              </a:ext>
            </a:extLst>
          </p:cNvPr>
          <p:cNvSpPr/>
          <p:nvPr/>
        </p:nvSpPr>
        <p:spPr>
          <a:xfrm>
            <a:off x="4774732" y="1710813"/>
            <a:ext cx="7141965" cy="48954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스프링 </a:t>
            </a:r>
            <a:r>
              <a:rPr lang="ko-KR" altLang="en-US" dirty="0" err="1"/>
              <a:t>컨테이터</a:t>
            </a:r>
            <a:r>
              <a:rPr lang="en-US" altLang="ko-KR" dirty="0"/>
              <a:t>(</a:t>
            </a:r>
            <a:r>
              <a:rPr lang="en-US" altLang="ko-KR" dirty="0" err="1"/>
              <a:t>XmlWebApplicatonContext</a:t>
            </a:r>
            <a:r>
              <a:rPr lang="en-US" altLang="ko-KR" dirty="0"/>
              <a:t>)</a:t>
            </a:r>
            <a:r>
              <a:rPr lang="ko-KR" altLang="en-US" dirty="0"/>
              <a:t>의 구동 과정</a:t>
            </a:r>
          </a:p>
        </p:txBody>
      </p:sp>
      <p:cxnSp>
        <p:nvCxnSpPr>
          <p:cNvPr id="8" name="직선 화살표 연결선 7"/>
          <p:cNvCxnSpPr>
            <a:cxnSpLocks/>
            <a:stCxn id="42" idx="2"/>
          </p:cNvCxnSpPr>
          <p:nvPr/>
        </p:nvCxnSpPr>
        <p:spPr>
          <a:xfrm>
            <a:off x="3321177" y="1692730"/>
            <a:ext cx="0" cy="2495309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6994707" y="1973771"/>
            <a:ext cx="2176898" cy="6480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latin typeface="+mn-ea"/>
              </a:rPr>
              <a:t>HandlerMapping</a:t>
            </a:r>
            <a:endParaRPr lang="ko-KR" altLang="en-US" b="1" dirty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171605" y="3808278"/>
            <a:ext cx="2176898" cy="6480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Controller</a:t>
            </a:r>
            <a:endParaRPr lang="ko-KR" altLang="en-US" b="1" dirty="0"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7938061" y="5560456"/>
            <a:ext cx="2176898" cy="6480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latin typeface="+mn-ea"/>
              </a:rPr>
              <a:t>ViewResolver</a:t>
            </a:r>
            <a:endParaRPr lang="ko-KR" altLang="en-US" b="1" dirty="0">
              <a:latin typeface="+mn-ea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D53DD8C-0866-4313-ABEE-4CB5CFD1E407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572920" y="4604097"/>
            <a:ext cx="4365141" cy="12803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C5AECD6-DF15-4ED7-B48C-80D197E5A19F}"/>
              </a:ext>
            </a:extLst>
          </p:cNvPr>
          <p:cNvCxnSpPr>
            <a:cxnSpLocks/>
          </p:cNvCxnSpPr>
          <p:nvPr/>
        </p:nvCxnSpPr>
        <p:spPr>
          <a:xfrm flipH="1" flipV="1">
            <a:off x="3562493" y="4276133"/>
            <a:ext cx="5598685" cy="33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EA244344-7F78-4227-9202-D8F39DA5E9E7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3572920" y="2297807"/>
            <a:ext cx="3421787" cy="12021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6FF520B-9C95-4E7D-9965-2D61F191E7F2}"/>
              </a:ext>
            </a:extLst>
          </p:cNvPr>
          <p:cNvSpPr txBox="1"/>
          <p:nvPr/>
        </p:nvSpPr>
        <p:spPr>
          <a:xfrm>
            <a:off x="2310932" y="1323398"/>
            <a:ext cx="202049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action-servlet.xml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3003844-BD72-4E9C-BC5E-749BC15FD3AF}"/>
              </a:ext>
            </a:extLst>
          </p:cNvPr>
          <p:cNvSpPr/>
          <p:nvPr/>
        </p:nvSpPr>
        <p:spPr>
          <a:xfrm>
            <a:off x="5749824" y="4076569"/>
            <a:ext cx="2261747" cy="46566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latin typeface="+mn-ea"/>
              </a:rPr>
              <a:t>ModelAndView</a:t>
            </a:r>
            <a:endParaRPr lang="ko-KR" altLang="en-US" b="1" dirty="0">
              <a:latin typeface="+mn-ea"/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13336859-33D0-4274-A2DA-972689F1AA52}"/>
              </a:ext>
            </a:extLst>
          </p:cNvPr>
          <p:cNvCxnSpPr>
            <a:cxnSpLocks/>
          </p:cNvCxnSpPr>
          <p:nvPr/>
        </p:nvCxnSpPr>
        <p:spPr>
          <a:xfrm>
            <a:off x="3572920" y="3906166"/>
            <a:ext cx="5598685" cy="101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1E7A9F7-809F-4313-BA56-CA22F896AECE}"/>
              </a:ext>
            </a:extLst>
          </p:cNvPr>
          <p:cNvSpPr txBox="1"/>
          <p:nvPr/>
        </p:nvSpPr>
        <p:spPr>
          <a:xfrm>
            <a:off x="2353698" y="1869859"/>
            <a:ext cx="1018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dirty="0">
                <a:latin typeface="+mn-ea"/>
              </a:rPr>
              <a:t>Loading</a:t>
            </a:r>
            <a:endParaRPr lang="ko-KR" altLang="en-US" dirty="0"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DED8D9-0A03-49B2-8957-3F05D898D08D}"/>
              </a:ext>
            </a:extLst>
          </p:cNvPr>
          <p:cNvSpPr txBox="1"/>
          <p:nvPr/>
        </p:nvSpPr>
        <p:spPr>
          <a:xfrm>
            <a:off x="7176334" y="1388690"/>
            <a:ext cx="29386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 dirty="0">
                <a:latin typeface="+mn-ea"/>
              </a:rPr>
              <a:t>Spring Container</a:t>
            </a:r>
            <a:endParaRPr lang="ko-KR" altLang="en-US" sz="2800" dirty="0">
              <a:latin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49DAFF-9E68-4C02-91AB-645EB7285B79}"/>
              </a:ext>
            </a:extLst>
          </p:cNvPr>
          <p:cNvSpPr txBox="1"/>
          <p:nvPr/>
        </p:nvSpPr>
        <p:spPr>
          <a:xfrm>
            <a:off x="906855" y="2840300"/>
            <a:ext cx="1990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dirty="0">
                <a:latin typeface="+mn-ea"/>
              </a:rPr>
              <a:t>Servlet Container</a:t>
            </a:r>
            <a:endParaRPr lang="ko-KR" altLang="en-US" dirty="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404F76-713F-4C80-9F41-72C0135C2F24}"/>
              </a:ext>
            </a:extLst>
          </p:cNvPr>
          <p:cNvSpPr txBox="1"/>
          <p:nvPr/>
        </p:nvSpPr>
        <p:spPr>
          <a:xfrm>
            <a:off x="275303" y="6236939"/>
            <a:ext cx="393287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action-servlet.xml: </a:t>
            </a:r>
            <a:r>
              <a:rPr lang="ko-KR" altLang="en-US" dirty="0"/>
              <a:t>스프링 설정 파일</a:t>
            </a:r>
          </a:p>
        </p:txBody>
      </p:sp>
    </p:spTree>
    <p:extLst>
      <p:ext uri="{BB962C8B-B14F-4D97-AF65-F5344CB8AC3E}">
        <p14:creationId xmlns:p14="http://schemas.microsoft.com/office/powerpoint/2010/main" val="458295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17B049DE-4349-44CF-AC66-01EE90D01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09" y="856329"/>
            <a:ext cx="10966430" cy="498375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9FD9D36-CB46-4E4E-AF9D-327877C3D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스프링 설정 파일 등록</a:t>
            </a:r>
            <a:r>
              <a:rPr lang="en-US" altLang="ko-KR" dirty="0"/>
              <a:t>-web.xml</a:t>
            </a:r>
            <a:r>
              <a:rPr lang="ko-KR" altLang="en-US" dirty="0"/>
              <a:t> 수정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4B8BAF9-6999-40D6-A4B7-B4C5B8B5DF01}"/>
              </a:ext>
            </a:extLst>
          </p:cNvPr>
          <p:cNvSpPr/>
          <p:nvPr/>
        </p:nvSpPr>
        <p:spPr>
          <a:xfrm>
            <a:off x="1502852" y="3428999"/>
            <a:ext cx="7423355" cy="100289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01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327C0C-DDE7-4BDC-A2DB-677839D45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ko-KR" dirty="0"/>
              <a:t>/WEB-INF/spring/appServlet/servlet-context.xml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43F75B4-C338-4583-B720-CBBAD8111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22" y="885826"/>
            <a:ext cx="7905750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813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6F923C-13D6-4AC1-ADBF-94605B387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ko-KR" dirty="0"/>
              <a:t>/WEB-INF/spring/appServlet/servlet-context.xml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352B01C-87F6-40FF-A0D9-4AF9E60CC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96" y="962024"/>
            <a:ext cx="4867275" cy="56959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30E431A-EDCE-4FD4-B9CD-0D8FCCF15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331" y="962024"/>
            <a:ext cx="4238625" cy="5867400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B64BF7A-AA52-4354-8329-1A7AAECABAC9}"/>
              </a:ext>
            </a:extLst>
          </p:cNvPr>
          <p:cNvSpPr/>
          <p:nvPr/>
        </p:nvSpPr>
        <p:spPr>
          <a:xfrm>
            <a:off x="3303917" y="6150634"/>
            <a:ext cx="1224951" cy="43994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51085FA-CBB8-4545-A083-29F5DDBD19DF}"/>
              </a:ext>
            </a:extLst>
          </p:cNvPr>
          <p:cNvSpPr/>
          <p:nvPr/>
        </p:nvSpPr>
        <p:spPr>
          <a:xfrm>
            <a:off x="7671692" y="4295957"/>
            <a:ext cx="1224951" cy="22563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연결선: 구부러짐 6">
            <a:extLst>
              <a:ext uri="{FF2B5EF4-FFF2-40B4-BE49-F238E27FC236}">
                <a16:creationId xmlns:a16="http://schemas.microsoft.com/office/drawing/2014/main" id="{7A07660B-9B8A-42C2-9AD7-59A4C89F05C0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4528868" y="4408774"/>
            <a:ext cx="3142824" cy="1961834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324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F8B00F-23BD-434C-B844-453526E33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ko-KR" dirty="0"/>
              <a:t>/WEB-INF/spring/appServlet/servlet-context.xml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8513587-6DEF-4B49-9B7A-E6C8B69B9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24" y="1066799"/>
            <a:ext cx="7991475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990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B66F18-39C1-460D-992C-DE8B9B792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ko-KR" dirty="0"/>
              <a:t>/WEB-INF/spring/appServlet/servlet-context.xml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8E85FF1-B86A-4617-BD8F-9ED41D4DF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96" y="885826"/>
            <a:ext cx="4867275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99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6E838-484C-4835-9F2D-5EA68170A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ko-KR" dirty="0"/>
              <a:t>/WEB-INF/spring/appServlet/servlet-context.xml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A20FA7-3204-4BFB-BAC5-2FA41549E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89" y="993205"/>
            <a:ext cx="9972675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265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0E38FB3-1D50-4279-BAC9-9D888FF8A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25" y="990240"/>
            <a:ext cx="10873214" cy="396132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74D6334-85BC-4A89-9CC8-4C23FB8AB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ko-KR" dirty="0"/>
              <a:t>/WEB-INF/spring/appServlet/servlet-context.xml</a:t>
            </a:r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3715FBC-4F5B-48A2-947B-9478335EA1EB}"/>
              </a:ext>
            </a:extLst>
          </p:cNvPr>
          <p:cNvSpPr/>
          <p:nvPr/>
        </p:nvSpPr>
        <p:spPr>
          <a:xfrm>
            <a:off x="931653" y="2838091"/>
            <a:ext cx="6107502" cy="145786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F2822D-E835-4466-9092-83C8099568C0}"/>
              </a:ext>
            </a:extLst>
          </p:cNvPr>
          <p:cNvSpPr txBox="1"/>
          <p:nvPr/>
        </p:nvSpPr>
        <p:spPr>
          <a:xfrm>
            <a:off x="7470475" y="3676349"/>
            <a:ext cx="174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/>
              <a:t>내용 추가</a:t>
            </a:r>
          </a:p>
        </p:txBody>
      </p:sp>
      <p:cxnSp>
        <p:nvCxnSpPr>
          <p:cNvPr id="7" name="연결선: 구부러짐 6">
            <a:extLst>
              <a:ext uri="{FF2B5EF4-FFF2-40B4-BE49-F238E27FC236}">
                <a16:creationId xmlns:a16="http://schemas.microsoft.com/office/drawing/2014/main" id="{F638DBB5-E2FD-4213-B782-0359614ADC70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7039155" y="3567023"/>
            <a:ext cx="431320" cy="370936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5420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CED6EE-4BAA-4736-A96E-A1FBCA911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서버 실행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77E8B14F-5DB2-4850-9C77-FA43DCF84F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491" y="806833"/>
            <a:ext cx="11331575" cy="2564690"/>
          </a:xfrm>
          <a:prstGeom prst="rect">
            <a:avLst/>
          </a:prstGeom>
        </p:spPr>
      </p:pic>
      <p:sp>
        <p:nvSpPr>
          <p:cNvPr id="5" name="내용 개체 틀 8">
            <a:extLst>
              <a:ext uri="{FF2B5EF4-FFF2-40B4-BE49-F238E27FC236}">
                <a16:creationId xmlns:a16="http://schemas.microsoft.com/office/drawing/2014/main" id="{57D227C2-C39D-45C1-9846-CA2CA02A67FD}"/>
              </a:ext>
            </a:extLst>
          </p:cNvPr>
          <p:cNvSpPr txBox="1">
            <a:spLocks/>
          </p:cNvSpPr>
          <p:nvPr/>
        </p:nvSpPr>
        <p:spPr>
          <a:xfrm>
            <a:off x="428048" y="3493710"/>
            <a:ext cx="11333018" cy="1894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‘</a:t>
            </a:r>
            <a:r>
              <a:rPr lang="en-US" altLang="ko-KR" dirty="0" err="1"/>
              <a:t>DispatcherServlet</a:t>
            </a:r>
            <a:r>
              <a:rPr lang="en-US" altLang="ko-KR" dirty="0"/>
              <a:t>’ </a:t>
            </a:r>
            <a:r>
              <a:rPr lang="ko-KR" altLang="en-US" dirty="0"/>
              <a:t>이름의 </a:t>
            </a:r>
            <a:r>
              <a:rPr lang="ko-KR" altLang="en-US" dirty="0" err="1"/>
              <a:t>서블릿이</a:t>
            </a:r>
            <a:r>
              <a:rPr lang="ko-KR" altLang="en-US" dirty="0"/>
              <a:t> 시작</a:t>
            </a:r>
            <a:endParaRPr lang="en-US" altLang="ko-KR" dirty="0"/>
          </a:p>
          <a:p>
            <a:r>
              <a:rPr lang="ko-KR" altLang="en-US" dirty="0"/>
              <a:t>빈 정의 파일 </a:t>
            </a:r>
            <a:r>
              <a:rPr lang="en-US" altLang="ko-KR" dirty="0"/>
              <a:t>/WEB-INF/spring/</a:t>
            </a:r>
            <a:r>
              <a:rPr lang="en-US" altLang="ko-KR" dirty="0" err="1"/>
              <a:t>appServlet</a:t>
            </a:r>
            <a:r>
              <a:rPr lang="en-US" altLang="ko-KR" dirty="0"/>
              <a:t>/servlet-context.xml </a:t>
            </a:r>
            <a:r>
              <a:rPr lang="ko-KR" altLang="en-US" dirty="0"/>
              <a:t>파일 로딩</a:t>
            </a:r>
            <a:endParaRPr lang="en-US" altLang="ko-KR" dirty="0"/>
          </a:p>
          <a:p>
            <a:pPr lvl="1"/>
            <a:r>
              <a:rPr lang="en-US" altLang="ko-KR" dirty="0" err="1"/>
              <a:t>SimpleUrlHandlerMapping</a:t>
            </a:r>
            <a:r>
              <a:rPr lang="ko-KR" altLang="en-US" dirty="0"/>
              <a:t>을 이용한 기본 </a:t>
            </a:r>
            <a:r>
              <a:rPr lang="en-US" altLang="ko-KR" dirty="0" err="1"/>
              <a:t>HandlerMapping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9D376E4-3F63-4C40-8D89-8F5894FEA1DF}"/>
              </a:ext>
            </a:extLst>
          </p:cNvPr>
          <p:cNvCxnSpPr/>
          <p:nvPr/>
        </p:nvCxnSpPr>
        <p:spPr>
          <a:xfrm>
            <a:off x="4330460" y="1958207"/>
            <a:ext cx="251891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F0AE659-E9B4-48A2-B462-2E75C096B444}"/>
              </a:ext>
            </a:extLst>
          </p:cNvPr>
          <p:cNvCxnSpPr>
            <a:cxnSpLocks/>
          </p:cNvCxnSpPr>
          <p:nvPr/>
        </p:nvCxnSpPr>
        <p:spPr>
          <a:xfrm>
            <a:off x="5201728" y="2251506"/>
            <a:ext cx="66509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CBDC3AD-023C-44AB-8322-6A5A3C7F1E4F}"/>
              </a:ext>
            </a:extLst>
          </p:cNvPr>
          <p:cNvCxnSpPr>
            <a:cxnSpLocks/>
          </p:cNvCxnSpPr>
          <p:nvPr/>
        </p:nvCxnSpPr>
        <p:spPr>
          <a:xfrm>
            <a:off x="836761" y="2872608"/>
            <a:ext cx="66509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829929D0-BF65-4076-9965-B26347F9D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060" y="5338305"/>
            <a:ext cx="9377902" cy="13411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D7F8CF-2762-4B63-9D88-155C6A914738}"/>
              </a:ext>
            </a:extLst>
          </p:cNvPr>
          <p:cNvSpPr txBox="1"/>
          <p:nvPr/>
        </p:nvSpPr>
        <p:spPr>
          <a:xfrm>
            <a:off x="6978770" y="6202392"/>
            <a:ext cx="2139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dirty="0">
                <a:latin typeface="+mn-ea"/>
              </a:rPr>
              <a:t>servlet-context.xml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30111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AFBA188-0B26-4491-89E0-B0BC77DB1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6-7 Spring MVC </a:t>
            </a:r>
            <a:r>
              <a:rPr lang="ko-KR" altLang="en-US" dirty="0"/>
              <a:t>적용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1BED65D-2E6A-4B0A-993E-A8D220546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350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4287B-0B30-4073-BEA7-EDD052B42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 Spring MVC</a:t>
            </a:r>
            <a:r>
              <a:rPr lang="ko-KR" altLang="en-US" dirty="0"/>
              <a:t> 적용 준비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0E08B04B-EECF-467B-8FD8-C5AAAC083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kr.ac.inje.comsi.view.controller</a:t>
            </a:r>
            <a:r>
              <a:rPr lang="en-US" altLang="ko-KR" dirty="0"/>
              <a:t> </a:t>
            </a:r>
            <a:r>
              <a:rPr lang="ko-KR" altLang="en-US" dirty="0"/>
              <a:t>패키지를 삭제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D0F2B6F-C3AE-48B0-802F-B9B619052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52" y="1454140"/>
            <a:ext cx="4375210" cy="5233331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6BC6F84-BCFF-423B-AC73-585E53DF996E}"/>
              </a:ext>
            </a:extLst>
          </p:cNvPr>
          <p:cNvSpPr/>
          <p:nvPr/>
        </p:nvSpPr>
        <p:spPr>
          <a:xfrm>
            <a:off x="776377" y="3976777"/>
            <a:ext cx="4710023" cy="1061049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4C13AC-9687-4615-B065-0585B02B173E}"/>
              </a:ext>
            </a:extLst>
          </p:cNvPr>
          <p:cNvSpPr txBox="1"/>
          <p:nvPr/>
        </p:nvSpPr>
        <p:spPr>
          <a:xfrm>
            <a:off x="5546310" y="4322635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dirty="0">
                <a:latin typeface="+mn-ea"/>
              </a:rPr>
              <a:t>삭제한다</a:t>
            </a:r>
            <a:r>
              <a:rPr lang="en-US" altLang="ko-KR" dirty="0"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23257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FDFB6-C969-4021-A9FA-B474BABF6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(1) </a:t>
            </a:r>
            <a:r>
              <a:rPr lang="en-US" altLang="ko-KR" dirty="0" err="1"/>
              <a:t>LoginController</a:t>
            </a:r>
            <a:r>
              <a:rPr lang="en-US" altLang="ko-KR" dirty="0"/>
              <a:t> </a:t>
            </a:r>
            <a:r>
              <a:rPr lang="ko-KR" altLang="en-US" dirty="0"/>
              <a:t>구현 </a:t>
            </a:r>
            <a:r>
              <a:rPr lang="en-US" altLang="ko-KR" dirty="0"/>
              <a:t>- </a:t>
            </a:r>
            <a:r>
              <a:rPr lang="ko-KR" altLang="en-US" dirty="0"/>
              <a:t>수정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BCE38A-0851-40A0-9A44-69C59BFCA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유저가 생성한 </a:t>
            </a:r>
            <a:r>
              <a:rPr lang="en-US" altLang="ko-KR" dirty="0"/>
              <a:t>Controller </a:t>
            </a:r>
            <a:r>
              <a:rPr lang="ko-KR" altLang="en-US" dirty="0"/>
              <a:t>인터페이스를 스프링 </a:t>
            </a:r>
            <a:r>
              <a:rPr lang="en-US" altLang="ko-KR" dirty="0"/>
              <a:t>Controller </a:t>
            </a:r>
            <a:r>
              <a:rPr lang="ko-KR" altLang="en-US" dirty="0"/>
              <a:t>인터페이스로 변경</a:t>
            </a:r>
            <a:endParaRPr lang="en-US" altLang="ko-KR" dirty="0"/>
          </a:p>
          <a:p>
            <a:r>
              <a:rPr lang="en-US" altLang="ko-KR" dirty="0"/>
              <a:t>Controller </a:t>
            </a:r>
            <a:r>
              <a:rPr lang="ko-KR" altLang="en-US" dirty="0"/>
              <a:t>인터페이스의 의 </a:t>
            </a:r>
            <a:r>
              <a:rPr lang="en-US" altLang="ko-KR" dirty="0" err="1"/>
              <a:t>handlerRequest</a:t>
            </a:r>
            <a:r>
              <a:rPr lang="ko-KR" altLang="en-US" dirty="0"/>
              <a:t>함수의 </a:t>
            </a:r>
            <a:r>
              <a:rPr lang="ko-KR" altLang="en-US" dirty="0" err="1"/>
              <a:t>리턴타입을</a:t>
            </a:r>
            <a:r>
              <a:rPr lang="ko-KR" altLang="en-US" dirty="0"/>
              <a:t> </a:t>
            </a:r>
            <a:r>
              <a:rPr lang="en-US" altLang="ko-KR" dirty="0"/>
              <a:t>String</a:t>
            </a:r>
            <a:r>
              <a:rPr lang="ko-KR" altLang="en-US" dirty="0"/>
              <a:t>에서 </a:t>
            </a:r>
            <a:r>
              <a:rPr lang="en-US" altLang="ko-KR" dirty="0" err="1"/>
              <a:t>ModelAndView</a:t>
            </a:r>
            <a:r>
              <a:rPr lang="en-US" altLang="ko-KR" dirty="0"/>
              <a:t> </a:t>
            </a:r>
            <a:r>
              <a:rPr lang="ko-KR" altLang="en-US" dirty="0"/>
              <a:t>객체로 변환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697C93D4-0E8C-4E55-80A4-5F82C99F6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524" y="2937385"/>
            <a:ext cx="9180245" cy="306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205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B29225-6911-4469-BCFD-5423A180B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Spring</a:t>
            </a:r>
            <a:r>
              <a:rPr lang="ko-KR" altLang="en-US" dirty="0"/>
              <a:t> </a:t>
            </a:r>
            <a:r>
              <a:rPr lang="en-US" altLang="ko-KR" dirty="0"/>
              <a:t>MVC</a:t>
            </a:r>
            <a:r>
              <a:rPr lang="ko-KR" altLang="en-US" dirty="0"/>
              <a:t> 준비 </a:t>
            </a:r>
            <a:r>
              <a:rPr lang="en-US" altLang="ko-KR" dirty="0"/>
              <a:t>– </a:t>
            </a:r>
            <a:r>
              <a:rPr lang="ko-KR" altLang="en-US" dirty="0"/>
              <a:t>스프링의 </a:t>
            </a:r>
            <a:r>
              <a:rPr lang="en-US" altLang="ko-KR" dirty="0"/>
              <a:t>Controller</a:t>
            </a:r>
            <a:r>
              <a:rPr lang="ko-KR" altLang="en-US" dirty="0"/>
              <a:t> </a:t>
            </a:r>
            <a:r>
              <a:rPr lang="en-US" altLang="ko-KR" dirty="0"/>
              <a:t>interface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006E5C55-E8C8-418A-8A5E-9221EFBDE3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478" y="1045599"/>
            <a:ext cx="9180245" cy="30642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38E8A5-B389-4735-8777-19B784546DAF}"/>
              </a:ext>
            </a:extLst>
          </p:cNvPr>
          <p:cNvSpPr txBox="1"/>
          <p:nvPr/>
        </p:nvSpPr>
        <p:spPr>
          <a:xfrm>
            <a:off x="596388" y="4198374"/>
            <a:ext cx="97078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n-ea"/>
              </a:rPr>
              <a:t>기존 </a:t>
            </a:r>
            <a:r>
              <a:rPr lang="en-US" altLang="ko-KR" sz="2400" dirty="0">
                <a:latin typeface="+mn-ea"/>
              </a:rPr>
              <a:t>Controller </a:t>
            </a:r>
            <a:r>
              <a:rPr lang="ko-KR" altLang="en-US" sz="2400" dirty="0">
                <a:latin typeface="+mn-ea"/>
              </a:rPr>
              <a:t>클래스들을 스프링에서 제공하는 </a:t>
            </a:r>
            <a:r>
              <a:rPr lang="en-US" altLang="ko-KR" sz="2400" dirty="0">
                <a:latin typeface="+mn-ea"/>
              </a:rPr>
              <a:t>Controller interface</a:t>
            </a:r>
            <a:r>
              <a:rPr lang="ko-KR" altLang="en-US" sz="2400" dirty="0">
                <a:latin typeface="+mn-ea"/>
              </a:rPr>
              <a:t>로 구현해야 한다</a:t>
            </a:r>
            <a:r>
              <a:rPr lang="en-US" altLang="ko-KR" sz="2400" dirty="0">
                <a:latin typeface="+mn-ea"/>
              </a:rPr>
              <a:t>.</a:t>
            </a:r>
            <a:endParaRPr lang="ko-KR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6260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8A2A4C-4980-4B5A-BEEF-9C11AA223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6.2 </a:t>
            </a:r>
            <a:r>
              <a:rPr lang="ko-KR" altLang="en-US" dirty="0"/>
              <a:t>로그인 기능 구현 </a:t>
            </a:r>
            <a:r>
              <a:rPr lang="en-US" altLang="ko-KR" dirty="0"/>
              <a:t>– (1)</a:t>
            </a:r>
            <a:r>
              <a:rPr lang="en-US" altLang="ko-KR" dirty="0" err="1"/>
              <a:t>LoginController</a:t>
            </a:r>
            <a:r>
              <a:rPr lang="en-US" altLang="ko-KR" dirty="0"/>
              <a:t> </a:t>
            </a:r>
            <a:r>
              <a:rPr lang="ko-KR" altLang="en-US" dirty="0"/>
              <a:t>구현</a:t>
            </a:r>
            <a:r>
              <a:rPr lang="en-US" altLang="ko-KR" dirty="0"/>
              <a:t>-</a:t>
            </a:r>
            <a:r>
              <a:rPr lang="ko-KR" altLang="en-US" dirty="0"/>
              <a:t>수정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5DC5E620-B0A6-4493-9221-A54AA504A0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370" y="981996"/>
            <a:ext cx="9934575" cy="5705475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B299A60-D179-4279-BEE3-682650268FB7}"/>
              </a:ext>
            </a:extLst>
          </p:cNvPr>
          <p:cNvSpPr/>
          <p:nvPr/>
        </p:nvSpPr>
        <p:spPr>
          <a:xfrm>
            <a:off x="1863306" y="2199736"/>
            <a:ext cx="1017917" cy="181155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064E02C-6669-4C2A-9E4C-03E1271E7AD3}"/>
              </a:ext>
            </a:extLst>
          </p:cNvPr>
          <p:cNvSpPr/>
          <p:nvPr/>
        </p:nvSpPr>
        <p:spPr>
          <a:xfrm>
            <a:off x="1535503" y="4917056"/>
            <a:ext cx="3226278" cy="1276710"/>
          </a:xfrm>
          <a:prstGeom prst="roundRect">
            <a:avLst>
              <a:gd name="adj" fmla="val 7883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F6C6C3D-E8CD-4EBB-954C-7513A08BBE01}"/>
              </a:ext>
            </a:extLst>
          </p:cNvPr>
          <p:cNvSpPr/>
          <p:nvPr/>
        </p:nvSpPr>
        <p:spPr>
          <a:xfrm>
            <a:off x="923026" y="981997"/>
            <a:ext cx="4226944" cy="59663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826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4A88E4-FA7F-4381-BD29-1343ACB5D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(2)</a:t>
            </a:r>
            <a:r>
              <a:rPr lang="ko-KR" altLang="en-US" dirty="0"/>
              <a:t> </a:t>
            </a:r>
            <a:r>
              <a:rPr lang="en-US" altLang="ko-KR" dirty="0" err="1"/>
              <a:t>HandlerMapping</a:t>
            </a:r>
            <a:r>
              <a:rPr lang="ko-KR" altLang="en-US" dirty="0"/>
              <a:t> 등록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servlet-context.xml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E8AFE531-A763-42EB-9C2F-F61B0C64E4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3348" y="856329"/>
            <a:ext cx="10958166" cy="4368875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994EF91-31F5-4B29-91AF-7B922CD456D5}"/>
              </a:ext>
            </a:extLst>
          </p:cNvPr>
          <p:cNvSpPr/>
          <p:nvPr/>
        </p:nvSpPr>
        <p:spPr>
          <a:xfrm>
            <a:off x="1052423" y="2803585"/>
            <a:ext cx="8911086" cy="1863306"/>
          </a:xfrm>
          <a:prstGeom prst="roundRect">
            <a:avLst>
              <a:gd name="adj" fmla="val 648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42708C-CCF3-4532-9FB3-C2E41027939C}"/>
              </a:ext>
            </a:extLst>
          </p:cNvPr>
          <p:cNvSpPr txBox="1"/>
          <p:nvPr/>
        </p:nvSpPr>
        <p:spPr>
          <a:xfrm>
            <a:off x="8721306" y="414067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dirty="0">
                <a:latin typeface="+mn-ea"/>
              </a:rPr>
              <a:t>추가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34F4896-D280-496F-9010-E57D070C9F9B}"/>
              </a:ext>
            </a:extLst>
          </p:cNvPr>
          <p:cNvSpPr txBox="1">
            <a:spLocks/>
          </p:cNvSpPr>
          <p:nvPr/>
        </p:nvSpPr>
        <p:spPr>
          <a:xfrm>
            <a:off x="429491" y="5365630"/>
            <a:ext cx="11333018" cy="13558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상자의 내용은 앞에서 직접 구현한 </a:t>
            </a:r>
            <a:r>
              <a:rPr lang="en-US" altLang="ko-KR" dirty="0" err="1"/>
              <a:t>HandlerMapping</a:t>
            </a:r>
            <a:r>
              <a:rPr lang="ko-KR" altLang="en-US" dirty="0"/>
              <a:t>과 같다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96010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A2FCC1-50BD-4A59-8E8E-6D6C4D032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6.3 </a:t>
            </a:r>
            <a:r>
              <a:rPr lang="ko-KR" altLang="en-US" dirty="0"/>
              <a:t>글 목록 검색 기능 구현</a:t>
            </a:r>
            <a:r>
              <a:rPr lang="en-US" altLang="ko-KR" dirty="0"/>
              <a:t>-(1)</a:t>
            </a:r>
            <a:r>
              <a:rPr lang="en-US" altLang="ko-KR" dirty="0" err="1"/>
              <a:t>GetBoardListController</a:t>
            </a:r>
            <a:r>
              <a:rPr lang="en-US" altLang="ko-KR" dirty="0"/>
              <a:t> </a:t>
            </a:r>
            <a:r>
              <a:rPr lang="ko-KR" altLang="en-US" dirty="0"/>
              <a:t>구현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AF998328-7E0A-49F8-BCF9-FD07EEAA25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6274" y="1071607"/>
            <a:ext cx="9425257" cy="4036228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0F8B784-DCBF-490C-9730-5605CE77C8E6}"/>
              </a:ext>
            </a:extLst>
          </p:cNvPr>
          <p:cNvSpPr/>
          <p:nvPr/>
        </p:nvSpPr>
        <p:spPr>
          <a:xfrm>
            <a:off x="1311215" y="3588589"/>
            <a:ext cx="6124755" cy="1104181"/>
          </a:xfrm>
          <a:prstGeom prst="roundRect">
            <a:avLst>
              <a:gd name="adj" fmla="val 3386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856525C-67FC-4D57-B735-5F32A7C5E9A9}"/>
              </a:ext>
            </a:extLst>
          </p:cNvPr>
          <p:cNvSpPr/>
          <p:nvPr/>
        </p:nvSpPr>
        <p:spPr>
          <a:xfrm>
            <a:off x="1992702" y="1682151"/>
            <a:ext cx="1181819" cy="20703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1212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E745B-2334-4189-860A-6397375B4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(2)</a:t>
            </a:r>
            <a:r>
              <a:rPr lang="ko-KR" altLang="en-US" dirty="0"/>
              <a:t> </a:t>
            </a:r>
            <a:r>
              <a:rPr lang="en-US" altLang="ko-KR" dirty="0" err="1"/>
              <a:t>HandlerMapping</a:t>
            </a:r>
            <a:r>
              <a:rPr lang="ko-KR" altLang="en-US" dirty="0"/>
              <a:t> 등록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servlet-context.xml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C0AC8979-3CD1-4D4C-A5BE-AA38D2F887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491" y="1062982"/>
            <a:ext cx="10172700" cy="4381500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6B10FCA-F1CF-49D7-8179-871E86641EE4}"/>
              </a:ext>
            </a:extLst>
          </p:cNvPr>
          <p:cNvSpPr/>
          <p:nvPr/>
        </p:nvSpPr>
        <p:spPr>
          <a:xfrm>
            <a:off x="914400" y="3873259"/>
            <a:ext cx="8911086" cy="189783"/>
          </a:xfrm>
          <a:prstGeom prst="roundRect">
            <a:avLst>
              <a:gd name="adj" fmla="val 648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0198A11-76A3-4382-B81E-F9003C05A678}"/>
              </a:ext>
            </a:extLst>
          </p:cNvPr>
          <p:cNvSpPr/>
          <p:nvPr/>
        </p:nvSpPr>
        <p:spPr>
          <a:xfrm>
            <a:off x="914400" y="4753153"/>
            <a:ext cx="8911086" cy="189783"/>
          </a:xfrm>
          <a:prstGeom prst="roundRect">
            <a:avLst>
              <a:gd name="adj" fmla="val 648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253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86997-FB6D-4868-9BBF-9B6A69535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6.4 </a:t>
            </a:r>
            <a:r>
              <a:rPr lang="ko-KR" altLang="en-US" dirty="0"/>
              <a:t>글 상세 조회 기능</a:t>
            </a:r>
            <a:r>
              <a:rPr lang="en-US" altLang="ko-KR" dirty="0"/>
              <a:t>-(1)</a:t>
            </a:r>
            <a:r>
              <a:rPr lang="en-US" altLang="ko-KR" dirty="0" err="1"/>
              <a:t>GetBoardController</a:t>
            </a:r>
            <a:r>
              <a:rPr lang="en-US" altLang="ko-KR" dirty="0"/>
              <a:t> </a:t>
            </a:r>
            <a:r>
              <a:rPr lang="ko-KR" altLang="en-US" dirty="0"/>
              <a:t>구현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7FA1D6F5-3C9C-43EE-AF21-2E43A4881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180" y="856329"/>
            <a:ext cx="9554621" cy="5865812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F82AD43-9966-4D5D-8F2F-7672EFC82C89}"/>
              </a:ext>
            </a:extLst>
          </p:cNvPr>
          <p:cNvSpPr/>
          <p:nvPr/>
        </p:nvSpPr>
        <p:spPr>
          <a:xfrm>
            <a:off x="940279" y="5495026"/>
            <a:ext cx="6124755" cy="897148"/>
          </a:xfrm>
          <a:prstGeom prst="roundRect">
            <a:avLst>
              <a:gd name="adj" fmla="val 3386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AAEDEBA-4EC8-4E08-9B09-F5B759742817}"/>
              </a:ext>
            </a:extLst>
          </p:cNvPr>
          <p:cNvSpPr/>
          <p:nvPr/>
        </p:nvSpPr>
        <p:spPr>
          <a:xfrm>
            <a:off x="1639020" y="3428999"/>
            <a:ext cx="923026" cy="21134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5877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5C7957-B8E7-4F02-93EF-6B1209655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(2)</a:t>
            </a:r>
            <a:r>
              <a:rPr lang="ko-KR" altLang="en-US" dirty="0"/>
              <a:t> </a:t>
            </a:r>
            <a:r>
              <a:rPr lang="en-US" altLang="ko-KR" dirty="0" err="1"/>
              <a:t>HandlerMapping</a:t>
            </a:r>
            <a:r>
              <a:rPr lang="ko-KR" altLang="en-US" dirty="0"/>
              <a:t> 등록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servlet-context.xml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AEC8BC-AC25-4DD1-BBED-08B9A9292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AEA5328-FA9A-4E32-88B1-4A620EB07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1" y="961485"/>
            <a:ext cx="10248900" cy="4762500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7BD85A2-79CB-42BE-8036-84F7E11C0424}"/>
              </a:ext>
            </a:extLst>
          </p:cNvPr>
          <p:cNvSpPr/>
          <p:nvPr/>
        </p:nvSpPr>
        <p:spPr>
          <a:xfrm>
            <a:off x="854016" y="3959525"/>
            <a:ext cx="8911086" cy="189782"/>
          </a:xfrm>
          <a:prstGeom prst="roundRect">
            <a:avLst>
              <a:gd name="adj" fmla="val 648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BE82024-9A65-4A1C-BA6A-10E2F63C92EC}"/>
              </a:ext>
            </a:extLst>
          </p:cNvPr>
          <p:cNvSpPr/>
          <p:nvPr/>
        </p:nvSpPr>
        <p:spPr>
          <a:xfrm>
            <a:off x="854016" y="4986068"/>
            <a:ext cx="8911086" cy="189782"/>
          </a:xfrm>
          <a:prstGeom prst="roundRect">
            <a:avLst>
              <a:gd name="adj" fmla="val 648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6497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99386D-33C3-4A8C-B02F-91A30572B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6.5 </a:t>
            </a:r>
            <a:r>
              <a:rPr lang="ko-KR" altLang="en-US" dirty="0"/>
              <a:t>글 등록 기능</a:t>
            </a:r>
            <a:r>
              <a:rPr lang="en-US" altLang="ko-KR" dirty="0"/>
              <a:t>-(1)</a:t>
            </a:r>
            <a:r>
              <a:rPr lang="en-US" altLang="ko-KR" dirty="0" err="1"/>
              <a:t>InsertBoardController</a:t>
            </a:r>
            <a:r>
              <a:rPr lang="en-US" altLang="ko-KR" dirty="0"/>
              <a:t> </a:t>
            </a:r>
            <a:r>
              <a:rPr lang="ko-KR" altLang="en-US" dirty="0"/>
              <a:t>구현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1C796A0E-3416-47CB-9DCB-FDADAE0BAD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6668" y="856329"/>
            <a:ext cx="8835026" cy="5865812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C43708A-4B51-4979-8273-FA6115587646}"/>
              </a:ext>
            </a:extLst>
          </p:cNvPr>
          <p:cNvSpPr/>
          <p:nvPr/>
        </p:nvSpPr>
        <p:spPr>
          <a:xfrm>
            <a:off x="940279" y="5790324"/>
            <a:ext cx="6124755" cy="644982"/>
          </a:xfrm>
          <a:prstGeom prst="roundRect">
            <a:avLst>
              <a:gd name="adj" fmla="val 3386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27232A8-EA5D-4958-B01C-C5A4D0909A9D}"/>
              </a:ext>
            </a:extLst>
          </p:cNvPr>
          <p:cNvSpPr/>
          <p:nvPr/>
        </p:nvSpPr>
        <p:spPr>
          <a:xfrm>
            <a:off x="1535503" y="3217653"/>
            <a:ext cx="854014" cy="21134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9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2DBC10-033C-4664-B12E-8504F6AC1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(2)</a:t>
            </a:r>
            <a:r>
              <a:rPr lang="ko-KR" altLang="en-US" dirty="0"/>
              <a:t> </a:t>
            </a:r>
            <a:r>
              <a:rPr lang="en-US" altLang="ko-KR" dirty="0" err="1"/>
              <a:t>HandlerMapping</a:t>
            </a:r>
            <a:r>
              <a:rPr lang="ko-KR" altLang="en-US" dirty="0"/>
              <a:t> 등록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servlet-context.xml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1AABE5-E42A-46B4-852E-154A7E28B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6B35273-B4FE-4AA7-8C54-8892C8B9C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1" y="856329"/>
            <a:ext cx="10201275" cy="4924425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EC384DB-2BD3-4E14-BA39-B6CE7330D5BF}"/>
              </a:ext>
            </a:extLst>
          </p:cNvPr>
          <p:cNvSpPr/>
          <p:nvPr/>
        </p:nvSpPr>
        <p:spPr>
          <a:xfrm>
            <a:off x="854016" y="4028533"/>
            <a:ext cx="8911086" cy="189782"/>
          </a:xfrm>
          <a:prstGeom prst="roundRect">
            <a:avLst>
              <a:gd name="adj" fmla="val 648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E45F127-B9DE-43BD-8E9B-D5BD03F8DCBD}"/>
              </a:ext>
            </a:extLst>
          </p:cNvPr>
          <p:cNvSpPr/>
          <p:nvPr/>
        </p:nvSpPr>
        <p:spPr>
          <a:xfrm>
            <a:off x="854016" y="5227598"/>
            <a:ext cx="8911086" cy="189782"/>
          </a:xfrm>
          <a:prstGeom prst="roundRect">
            <a:avLst>
              <a:gd name="adj" fmla="val 648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4636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8AA219-CFD3-4B70-85EB-F6223D325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6.6 </a:t>
            </a:r>
            <a:r>
              <a:rPr lang="ko-KR" altLang="en-US" dirty="0"/>
              <a:t>글 수정 기능</a:t>
            </a:r>
            <a:r>
              <a:rPr lang="en-US" altLang="ko-KR" dirty="0"/>
              <a:t>-(1)</a:t>
            </a:r>
            <a:r>
              <a:rPr lang="en-US" altLang="ko-KR" dirty="0" err="1"/>
              <a:t>UpdateBoardController</a:t>
            </a:r>
            <a:r>
              <a:rPr lang="en-US" altLang="ko-KR" dirty="0"/>
              <a:t> </a:t>
            </a:r>
            <a:r>
              <a:rPr lang="ko-KR" altLang="en-US" dirty="0"/>
              <a:t>구현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9EBD6422-7125-4A01-A2AB-9197DC8384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491" y="856329"/>
            <a:ext cx="8963668" cy="5865812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0244533-5C53-401A-9D89-073C7F997DBA}"/>
              </a:ext>
            </a:extLst>
          </p:cNvPr>
          <p:cNvSpPr/>
          <p:nvPr/>
        </p:nvSpPr>
        <p:spPr>
          <a:xfrm>
            <a:off x="940279" y="5790324"/>
            <a:ext cx="6124755" cy="644982"/>
          </a:xfrm>
          <a:prstGeom prst="roundRect">
            <a:avLst>
              <a:gd name="adj" fmla="val 3386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6359174-892D-49EA-91A4-455EFFBA31C8}"/>
              </a:ext>
            </a:extLst>
          </p:cNvPr>
          <p:cNvSpPr/>
          <p:nvPr/>
        </p:nvSpPr>
        <p:spPr>
          <a:xfrm>
            <a:off x="1500999" y="3200401"/>
            <a:ext cx="854014" cy="21134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522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32980B-E06D-4746-9B8B-28EE1E9B2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6.7 </a:t>
            </a:r>
            <a:r>
              <a:rPr lang="ko-KR" altLang="en-US" dirty="0"/>
              <a:t>글 삭제 기능</a:t>
            </a:r>
            <a:r>
              <a:rPr lang="en-US" altLang="ko-KR" dirty="0"/>
              <a:t>-(1)</a:t>
            </a:r>
            <a:r>
              <a:rPr lang="en-US" altLang="ko-KR" dirty="0" err="1"/>
              <a:t>DeleteBoardController</a:t>
            </a:r>
            <a:r>
              <a:rPr lang="en-US" altLang="ko-KR" dirty="0"/>
              <a:t> </a:t>
            </a:r>
            <a:r>
              <a:rPr lang="ko-KR" altLang="en-US" dirty="0"/>
              <a:t>구현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7EBE14E3-5C29-4D9C-9731-2D193541F2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611" y="856329"/>
            <a:ext cx="9310530" cy="5865812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D6879A4-7F09-4342-AEF4-0F0E92F00D0D}"/>
              </a:ext>
            </a:extLst>
          </p:cNvPr>
          <p:cNvSpPr/>
          <p:nvPr/>
        </p:nvSpPr>
        <p:spPr>
          <a:xfrm>
            <a:off x="1311215" y="5744878"/>
            <a:ext cx="6124755" cy="644982"/>
          </a:xfrm>
          <a:prstGeom prst="roundRect">
            <a:avLst>
              <a:gd name="adj" fmla="val 3386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2569581-4CDD-4833-BCFC-1335ADD7875E}"/>
              </a:ext>
            </a:extLst>
          </p:cNvPr>
          <p:cNvSpPr/>
          <p:nvPr/>
        </p:nvSpPr>
        <p:spPr>
          <a:xfrm>
            <a:off x="1889186" y="3465505"/>
            <a:ext cx="854014" cy="21134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4928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BDC07F-FE18-43C8-9D90-D84BF85EE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Handlermapping</a:t>
            </a:r>
            <a:r>
              <a:rPr lang="en-US" altLang="ko-KR" dirty="0"/>
              <a:t> </a:t>
            </a:r>
            <a:r>
              <a:rPr lang="ko-KR" altLang="en-US" dirty="0"/>
              <a:t>등록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AC210E8F-8E17-405B-8FB2-3829D47F46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491" y="986152"/>
            <a:ext cx="10153650" cy="5553075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37F3FCF-372A-4A5D-86ED-D082DAA1005A}"/>
              </a:ext>
            </a:extLst>
          </p:cNvPr>
          <p:cNvSpPr/>
          <p:nvPr/>
        </p:nvSpPr>
        <p:spPr>
          <a:xfrm>
            <a:off x="845390" y="4319099"/>
            <a:ext cx="8911086" cy="365043"/>
          </a:xfrm>
          <a:prstGeom prst="roundRect">
            <a:avLst>
              <a:gd name="adj" fmla="val 648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4C1A0FF-F579-46A1-88EF-487975FAAFDE}"/>
              </a:ext>
            </a:extLst>
          </p:cNvPr>
          <p:cNvSpPr/>
          <p:nvPr/>
        </p:nvSpPr>
        <p:spPr>
          <a:xfrm>
            <a:off x="845390" y="5871847"/>
            <a:ext cx="8911086" cy="365043"/>
          </a:xfrm>
          <a:prstGeom prst="roundRect">
            <a:avLst>
              <a:gd name="adj" fmla="val 648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38766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F0F317-64EE-4CAB-B9AD-E4226DCCA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6.8 </a:t>
            </a:r>
            <a:r>
              <a:rPr lang="ko-KR" altLang="en-US" dirty="0"/>
              <a:t>로그아웃 기능 구현하기</a:t>
            </a:r>
            <a:r>
              <a:rPr lang="en-US" altLang="ko-KR" dirty="0"/>
              <a:t>-</a:t>
            </a:r>
            <a:r>
              <a:rPr lang="en-US" altLang="ko-KR" dirty="0" err="1"/>
              <a:t>LogoutController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40AFA31F-778D-46FE-AFDF-EA13035E19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430" y="962025"/>
            <a:ext cx="9788015" cy="5095670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3EA7C51-9489-471E-8A6F-A8B92892A8B0}"/>
              </a:ext>
            </a:extLst>
          </p:cNvPr>
          <p:cNvSpPr/>
          <p:nvPr/>
        </p:nvSpPr>
        <p:spPr>
          <a:xfrm>
            <a:off x="1311215" y="5072018"/>
            <a:ext cx="6124755" cy="604163"/>
          </a:xfrm>
          <a:prstGeom prst="roundRect">
            <a:avLst>
              <a:gd name="adj" fmla="val 3386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63F4E12-F367-4303-884B-96250C7D947C}"/>
              </a:ext>
            </a:extLst>
          </p:cNvPr>
          <p:cNvSpPr/>
          <p:nvPr/>
        </p:nvSpPr>
        <p:spPr>
          <a:xfrm>
            <a:off x="1857554" y="3672539"/>
            <a:ext cx="1058173" cy="26110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9350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53655-373F-4E9A-9FD5-9D5FC7BE1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Handlermapping</a:t>
            </a:r>
            <a:r>
              <a:rPr lang="en-US" altLang="ko-KR" dirty="0"/>
              <a:t> </a:t>
            </a:r>
            <a:r>
              <a:rPr lang="ko-KR" altLang="en-US"/>
              <a:t>등록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A92E81-F08D-4D54-A743-EB4087361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5D281A3-8F6B-45F8-84EC-5D235F0D0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0" y="856329"/>
            <a:ext cx="10206381" cy="4146992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756C221-066B-4DDD-BA7C-EBA2757BB311}"/>
              </a:ext>
            </a:extLst>
          </p:cNvPr>
          <p:cNvSpPr/>
          <p:nvPr/>
        </p:nvSpPr>
        <p:spPr>
          <a:xfrm>
            <a:off x="1112808" y="2757719"/>
            <a:ext cx="8341744" cy="218395"/>
          </a:xfrm>
          <a:prstGeom prst="roundRect">
            <a:avLst>
              <a:gd name="adj" fmla="val 648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41C3D1B-EF54-4064-832A-05F3EA01226F}"/>
              </a:ext>
            </a:extLst>
          </p:cNvPr>
          <p:cNvSpPr/>
          <p:nvPr/>
        </p:nvSpPr>
        <p:spPr>
          <a:xfrm>
            <a:off x="957534" y="4638270"/>
            <a:ext cx="8497018" cy="239233"/>
          </a:xfrm>
          <a:prstGeom prst="roundRect">
            <a:avLst>
              <a:gd name="adj" fmla="val 648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5416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B5C08A4-1E95-4246-AA81-44CD3A5F9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View </a:t>
            </a:r>
            <a:r>
              <a:rPr lang="ko-KR" altLang="en-US" dirty="0"/>
              <a:t>페이지</a:t>
            </a:r>
            <a:r>
              <a:rPr lang="en-US" altLang="ko-KR" dirty="0"/>
              <a:t>(JSP) </a:t>
            </a:r>
            <a:r>
              <a:rPr lang="ko-KR" altLang="en-US" dirty="0"/>
              <a:t>수정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59BA3EC-F0A3-449C-B90D-028D94063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0318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389E9-C0B9-413F-BB51-0FCE7C407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EL</a:t>
            </a:r>
            <a:r>
              <a:rPr lang="ko-KR" altLang="en-US" dirty="0"/>
              <a:t>과 </a:t>
            </a:r>
            <a:r>
              <a:rPr lang="en-US" altLang="ko-KR" dirty="0"/>
              <a:t>JSTL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F8D1DE-EB1D-4598-873A-1B6D25373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EL(Expression Language)</a:t>
            </a:r>
            <a:r>
              <a:rPr lang="ko-KR" altLang="en-US" dirty="0"/>
              <a:t>은 </a:t>
            </a:r>
            <a:r>
              <a:rPr lang="en-US" altLang="ko-KR" dirty="0"/>
              <a:t>JSP 2.0</a:t>
            </a:r>
            <a:r>
              <a:rPr lang="ko-KR" altLang="en-US" dirty="0"/>
              <a:t>에서 추가된 스크립트 언어로 기존 표현식을 대체하는 표현언어</a:t>
            </a:r>
            <a:endParaRPr lang="en-US" altLang="ko-KR" dirty="0"/>
          </a:p>
          <a:p>
            <a:r>
              <a:rPr lang="en-US" altLang="ko-KR" dirty="0"/>
              <a:t>&lt;%=</a:t>
            </a:r>
            <a:r>
              <a:rPr lang="en-US" altLang="ko-KR" dirty="0" err="1"/>
              <a:t>session.getAttribute</a:t>
            </a:r>
            <a:r>
              <a:rPr lang="en-US" altLang="ko-KR" dirty="0"/>
              <a:t>(“username”)%&gt; </a:t>
            </a:r>
            <a:r>
              <a:rPr lang="en-US" altLang="ko-KR" dirty="0">
                <a:sym typeface="Wingdings" panose="05000000000000000000" pitchFamily="2" charset="2"/>
              </a:rPr>
              <a:t> ${username}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JSTL(JSP Standard Tag Library)</a:t>
            </a:r>
            <a:r>
              <a:rPr lang="ko-KR" altLang="en-US" dirty="0">
                <a:sym typeface="Wingdings" panose="05000000000000000000" pitchFamily="2" charset="2"/>
              </a:rPr>
              <a:t>는 </a:t>
            </a:r>
            <a:r>
              <a:rPr lang="en-US" altLang="ko-KR" dirty="0" err="1">
                <a:sym typeface="Wingdings" panose="05000000000000000000" pitchFamily="2" charset="2"/>
              </a:rPr>
              <a:t>scriptlet</a:t>
            </a:r>
            <a:r>
              <a:rPr lang="ko-KR" altLang="en-US" dirty="0">
                <a:sym typeface="Wingdings" panose="05000000000000000000" pitchFamily="2" charset="2"/>
              </a:rPr>
              <a:t>에서 </a:t>
            </a:r>
            <a:r>
              <a:rPr lang="en-US" altLang="ko-KR" dirty="0">
                <a:sym typeface="Wingdings" panose="05000000000000000000" pitchFamily="2" charset="2"/>
              </a:rPr>
              <a:t>if, for, switch</a:t>
            </a:r>
            <a:r>
              <a:rPr lang="ko-KR" altLang="en-US" dirty="0">
                <a:sym typeface="Wingdings" panose="05000000000000000000" pitchFamily="2" charset="2"/>
              </a:rPr>
              <a:t>등과 같은 자바 코드를 태그 형태로 사용할 수 있도록 지원 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참고 사이트</a:t>
            </a:r>
            <a:r>
              <a:rPr lang="en-US" altLang="ko-KR" dirty="0">
                <a:sym typeface="Wingdings" panose="05000000000000000000" pitchFamily="2" charset="2"/>
              </a:rPr>
              <a:t>: http://www.tutorialspoint.com/jsp/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44417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B1498-994C-45AE-AA2C-B66EEA7AD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getBoard.jsp</a:t>
            </a:r>
            <a:r>
              <a:rPr lang="en-US" altLang="ko-KR" dirty="0"/>
              <a:t> </a:t>
            </a:r>
            <a:r>
              <a:rPr lang="ko-KR" altLang="en-US" dirty="0"/>
              <a:t>수정</a:t>
            </a:r>
            <a:r>
              <a:rPr lang="en-US" altLang="ko-KR" dirty="0"/>
              <a:t>(EL </a:t>
            </a:r>
            <a:r>
              <a:rPr lang="ko-KR" altLang="en-US" dirty="0"/>
              <a:t>표현언어로 수정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C77BE28F-31C8-4683-AC9F-A30EE9B614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1240" y="855663"/>
            <a:ext cx="10149520" cy="5865812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0F71DDD-39EA-449A-A2D9-8D29E65B0A50}"/>
              </a:ext>
            </a:extLst>
          </p:cNvPr>
          <p:cNvSpPr/>
          <p:nvPr/>
        </p:nvSpPr>
        <p:spPr>
          <a:xfrm>
            <a:off x="5072332" y="966158"/>
            <a:ext cx="1138687" cy="27604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ECC250C-E656-467A-AC1A-607BD4CC581A}"/>
              </a:ext>
            </a:extLst>
          </p:cNvPr>
          <p:cNvSpPr/>
          <p:nvPr/>
        </p:nvSpPr>
        <p:spPr>
          <a:xfrm>
            <a:off x="3631720" y="1811547"/>
            <a:ext cx="1285337" cy="27604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B507F27-6CFD-4592-B45D-F38CFB1E4479}"/>
              </a:ext>
            </a:extLst>
          </p:cNvPr>
          <p:cNvSpPr/>
          <p:nvPr/>
        </p:nvSpPr>
        <p:spPr>
          <a:xfrm>
            <a:off x="4132052" y="2496681"/>
            <a:ext cx="1138687" cy="27604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4722E23-CED0-4817-B0B0-383AE1FBE142}"/>
              </a:ext>
            </a:extLst>
          </p:cNvPr>
          <p:cNvSpPr/>
          <p:nvPr/>
        </p:nvSpPr>
        <p:spPr>
          <a:xfrm>
            <a:off x="3135701" y="3319838"/>
            <a:ext cx="1285337" cy="27604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4492037-7217-4088-8B3D-53DBFDE03CD6}"/>
              </a:ext>
            </a:extLst>
          </p:cNvPr>
          <p:cNvSpPr/>
          <p:nvPr/>
        </p:nvSpPr>
        <p:spPr>
          <a:xfrm>
            <a:off x="4132052" y="4004972"/>
            <a:ext cx="1285337" cy="27604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565C7B6-9A0C-4F80-B3AB-B043667EC7B4}"/>
              </a:ext>
            </a:extLst>
          </p:cNvPr>
          <p:cNvSpPr/>
          <p:nvPr/>
        </p:nvSpPr>
        <p:spPr>
          <a:xfrm>
            <a:off x="4132051" y="4678089"/>
            <a:ext cx="940281" cy="27604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A05276F-5C20-4A33-87CE-A7A809C523AA}"/>
              </a:ext>
            </a:extLst>
          </p:cNvPr>
          <p:cNvSpPr/>
          <p:nvPr/>
        </p:nvSpPr>
        <p:spPr>
          <a:xfrm>
            <a:off x="2070340" y="6282602"/>
            <a:ext cx="3096883" cy="27604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6237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675A45-29A2-4B34-B400-4768569E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getBoardList.jsp</a:t>
            </a:r>
            <a:r>
              <a:rPr lang="en-US" altLang="ko-KR" dirty="0"/>
              <a:t>(EL</a:t>
            </a:r>
            <a:r>
              <a:rPr lang="ko-KR" altLang="en-US" dirty="0"/>
              <a:t> 표현언어로 수정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190F55B0-A5BC-481E-BEAD-3BA9CF47B3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582" y="2966857"/>
            <a:ext cx="8862926" cy="3720614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38CE638-C6AF-412B-B959-F2FE3596F084}"/>
              </a:ext>
            </a:extLst>
          </p:cNvPr>
          <p:cNvSpPr/>
          <p:nvPr/>
        </p:nvSpPr>
        <p:spPr>
          <a:xfrm>
            <a:off x="1199072" y="4445175"/>
            <a:ext cx="7142672" cy="1627821"/>
          </a:xfrm>
          <a:prstGeom prst="roundRect">
            <a:avLst>
              <a:gd name="adj" fmla="val 67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21C47F8-7233-4981-AC0F-7F3F75E62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16" y="810568"/>
            <a:ext cx="8801350" cy="188950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B48085F-DE95-46ED-8930-2EE78339E902}"/>
              </a:ext>
            </a:extLst>
          </p:cNvPr>
          <p:cNvSpPr/>
          <p:nvPr/>
        </p:nvSpPr>
        <p:spPr>
          <a:xfrm>
            <a:off x="983411" y="1416102"/>
            <a:ext cx="7142672" cy="205798"/>
          </a:xfrm>
          <a:prstGeom prst="roundRect">
            <a:avLst>
              <a:gd name="adj" fmla="val 67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4514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4C612-E025-476E-868C-6019A8B9A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서버 실행 보기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D2316352-A026-481C-8956-43EB84A1C5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088" y="855663"/>
            <a:ext cx="11175825" cy="586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5920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EB37FA-CD26-48D4-BE1D-53F6A3AF5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F4D7C2CC-FA24-489C-87A1-A756048742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088" y="855663"/>
            <a:ext cx="11175825" cy="586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13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C608EA-A6BC-41DE-8C22-869610BF1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등록된 </a:t>
            </a:r>
            <a:r>
              <a:rPr lang="en-US" altLang="ko-KR" dirty="0"/>
              <a:t>Controller</a:t>
            </a:r>
            <a:r>
              <a:rPr lang="ko-KR" altLang="en-US" dirty="0"/>
              <a:t>로가 </a:t>
            </a:r>
            <a:r>
              <a:rPr lang="en-US" altLang="ko-KR" dirty="0" err="1"/>
              <a:t>HandlerMapping</a:t>
            </a:r>
            <a:r>
              <a:rPr lang="ko-KR" altLang="en-US" dirty="0"/>
              <a:t>로 설정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420CF55C-6466-4BE7-8B6A-1BDC0AA051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001" y="1106114"/>
            <a:ext cx="1061085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0072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D64685B3-D089-43A0-A24B-38944AE68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505" y="1347538"/>
            <a:ext cx="3848100" cy="47529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245850B-7487-49C4-A83D-0AF5E67F3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6.9 </a:t>
            </a:r>
            <a:r>
              <a:rPr lang="en-US" altLang="ko-KR" dirty="0" err="1"/>
              <a:t>ViewResolver</a:t>
            </a:r>
            <a:r>
              <a:rPr lang="en-US" altLang="ko-KR" dirty="0"/>
              <a:t> </a:t>
            </a:r>
            <a:r>
              <a:rPr lang="ko-KR" altLang="en-US" dirty="0"/>
              <a:t>활용하기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E8236F-48E8-4042-B707-55076B397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View(JSP</a:t>
            </a:r>
            <a:r>
              <a:rPr lang="ko-KR" altLang="en-US" dirty="0"/>
              <a:t>만</a:t>
            </a:r>
            <a:r>
              <a:rPr lang="en-US" altLang="ko-KR" dirty="0"/>
              <a:t>) </a:t>
            </a:r>
            <a:r>
              <a:rPr lang="ko-KR" altLang="en-US" dirty="0"/>
              <a:t>파일들 이동 </a:t>
            </a:r>
            <a:r>
              <a:rPr lang="en-US" altLang="ko-KR" dirty="0"/>
              <a:t>– WEB-INF/board </a:t>
            </a:r>
            <a:r>
              <a:rPr lang="ko-KR" altLang="en-US" dirty="0"/>
              <a:t>폴더 생성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0628F8-F118-4AC5-A074-48F2053F1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67" y="1347538"/>
            <a:ext cx="4142395" cy="5010129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35FBC07-6565-4CE3-9175-5697F05F893D}"/>
              </a:ext>
            </a:extLst>
          </p:cNvPr>
          <p:cNvSpPr/>
          <p:nvPr/>
        </p:nvSpPr>
        <p:spPr>
          <a:xfrm>
            <a:off x="1362974" y="3709359"/>
            <a:ext cx="1958196" cy="112143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B17BD54-106A-45DB-9199-D3868228AAD7}"/>
              </a:ext>
            </a:extLst>
          </p:cNvPr>
          <p:cNvSpPr/>
          <p:nvPr/>
        </p:nvSpPr>
        <p:spPr>
          <a:xfrm>
            <a:off x="7289320" y="3614468"/>
            <a:ext cx="1958196" cy="73515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연결선: 구부러짐 8">
            <a:extLst>
              <a:ext uri="{FF2B5EF4-FFF2-40B4-BE49-F238E27FC236}">
                <a16:creationId xmlns:a16="http://schemas.microsoft.com/office/drawing/2014/main" id="{B8842960-6FCF-44EC-8430-7BE59118414A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3321170" y="3982044"/>
            <a:ext cx="3968150" cy="288032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06769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5E65B1-CA0D-42A7-9070-93E6E382B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ViewResolver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E8969C-BCF6-4219-9BAD-05A544077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ViewResolver</a:t>
            </a:r>
            <a:r>
              <a:rPr lang="ko-KR" altLang="en-US" dirty="0"/>
              <a:t>를 이용하면 </a:t>
            </a:r>
            <a:r>
              <a:rPr lang="ko-KR" altLang="en-US" dirty="0" err="1"/>
              <a:t>클라언트로부터</a:t>
            </a:r>
            <a:r>
              <a:rPr lang="ko-KR" altLang="en-US" dirty="0"/>
              <a:t> 직접적인 </a:t>
            </a:r>
            <a:r>
              <a:rPr lang="en-US" altLang="ko-KR" dirty="0"/>
              <a:t>JSP </a:t>
            </a:r>
            <a:r>
              <a:rPr lang="ko-KR" altLang="en-US" dirty="0"/>
              <a:t>호출을 차단</a:t>
            </a:r>
            <a:endParaRPr lang="en-US" altLang="ko-KR" dirty="0"/>
          </a:p>
          <a:p>
            <a:r>
              <a:rPr lang="ko-KR" altLang="en-US" dirty="0"/>
              <a:t>대부분의 웹프로젝트에서 </a:t>
            </a:r>
            <a:r>
              <a:rPr lang="en-US" altLang="ko-KR" dirty="0" err="1"/>
              <a:t>ViewResolver</a:t>
            </a:r>
            <a:r>
              <a:rPr lang="en-US" altLang="ko-KR" dirty="0"/>
              <a:t> </a:t>
            </a:r>
            <a:r>
              <a:rPr lang="ko-KR" altLang="en-US" dirty="0"/>
              <a:t>사용은 거의 필수</a:t>
            </a:r>
            <a:endParaRPr lang="en-US" altLang="ko-KR" dirty="0"/>
          </a:p>
          <a:p>
            <a:r>
              <a:rPr lang="en-US" altLang="ko-KR" dirty="0" err="1"/>
              <a:t>ViewResolver</a:t>
            </a:r>
            <a:r>
              <a:rPr lang="en-US" altLang="ko-KR" dirty="0"/>
              <a:t> </a:t>
            </a:r>
            <a:r>
              <a:rPr lang="ko-KR" altLang="en-US" dirty="0"/>
              <a:t>역시 여러가지가 있지만 </a:t>
            </a:r>
            <a:r>
              <a:rPr lang="en-US" altLang="ko-KR" dirty="0"/>
              <a:t>JSP</a:t>
            </a:r>
            <a:r>
              <a:rPr lang="ko-KR" altLang="en-US" dirty="0"/>
              <a:t>를 </a:t>
            </a:r>
            <a:r>
              <a:rPr lang="en-US" altLang="ko-KR" dirty="0"/>
              <a:t>View</a:t>
            </a:r>
            <a:r>
              <a:rPr lang="ko-KR" altLang="en-US" dirty="0"/>
              <a:t>로 사용할 경우에는 </a:t>
            </a:r>
            <a:r>
              <a:rPr lang="en-US" altLang="ko-KR" dirty="0" err="1"/>
              <a:t>InternalResourceViewResolver</a:t>
            </a:r>
            <a:r>
              <a:rPr lang="ko-KR" altLang="en-US" dirty="0"/>
              <a:t>를 사용한다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941949-903D-4F23-A3B4-EA6E8AC50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81" y="2874842"/>
            <a:ext cx="10277475" cy="36099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682252-C9F4-410E-9624-6A781DFD3E19}"/>
              </a:ext>
            </a:extLst>
          </p:cNvPr>
          <p:cNvSpPr txBox="1"/>
          <p:nvPr/>
        </p:nvSpPr>
        <p:spPr>
          <a:xfrm>
            <a:off x="767481" y="6115485"/>
            <a:ext cx="6684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dirty="0">
                <a:solidFill>
                  <a:srgbClr val="FF0000"/>
                </a:solidFill>
                <a:latin typeface="+mn-ea"/>
              </a:rPr>
              <a:t>직접 호출할 때는 </a:t>
            </a:r>
            <a:r>
              <a:rPr lang="en-US" altLang="ko-KR" dirty="0" err="1">
                <a:solidFill>
                  <a:srgbClr val="FF0000"/>
                </a:solidFill>
                <a:latin typeface="+mn-ea"/>
              </a:rPr>
              <a:t>GetBoardController</a:t>
            </a:r>
            <a:r>
              <a:rPr lang="en-US" altLang="ko-KR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가 실행되지 않았기 때문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A8A9501-CE8F-46A9-AF29-A956D35F8687}"/>
              </a:ext>
            </a:extLst>
          </p:cNvPr>
          <p:cNvSpPr/>
          <p:nvPr/>
        </p:nvSpPr>
        <p:spPr>
          <a:xfrm>
            <a:off x="2053087" y="3286664"/>
            <a:ext cx="3140015" cy="32780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FEDBB1-4362-43E0-B761-D104D676ED70}"/>
              </a:ext>
            </a:extLst>
          </p:cNvPr>
          <p:cNvSpPr txBox="1"/>
          <p:nvPr/>
        </p:nvSpPr>
        <p:spPr>
          <a:xfrm>
            <a:off x="5193102" y="328666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>
                <a:latin typeface="+mn-ea"/>
              </a:rPr>
              <a:t>직접호출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88897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5591E2-22CA-4330-95CB-AF7EF918F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servlet-context.xml</a:t>
            </a:r>
            <a:r>
              <a:rPr lang="ko-KR" altLang="en-US" dirty="0"/>
              <a:t>에 </a:t>
            </a:r>
            <a:r>
              <a:rPr lang="en-US" altLang="ko-KR" dirty="0" err="1"/>
              <a:t>ViewResolver</a:t>
            </a:r>
            <a:r>
              <a:rPr lang="ko-KR" altLang="en-US" dirty="0"/>
              <a:t>추가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606CF455-0811-483D-87E3-2E6F8B514F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491" y="1051569"/>
            <a:ext cx="8077200" cy="1971675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8D3FB91-D851-4A68-818D-4417EED88798}"/>
              </a:ext>
            </a:extLst>
          </p:cNvPr>
          <p:cNvSpPr/>
          <p:nvPr/>
        </p:nvSpPr>
        <p:spPr>
          <a:xfrm>
            <a:off x="897147" y="1777042"/>
            <a:ext cx="7047781" cy="88852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C78EF528-CC34-448F-B038-DDC7E2D3F14A}"/>
              </a:ext>
            </a:extLst>
          </p:cNvPr>
          <p:cNvSpPr txBox="1">
            <a:spLocks/>
          </p:cNvSpPr>
          <p:nvPr/>
        </p:nvSpPr>
        <p:spPr>
          <a:xfrm>
            <a:off x="429491" y="3218484"/>
            <a:ext cx="11333018" cy="35029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ㅇㄹ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3501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22526-BC6D-4E9F-9E2E-EFEC6A8D8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LoginController</a:t>
            </a:r>
            <a:r>
              <a:rPr lang="en-US" altLang="ko-KR" dirty="0"/>
              <a:t> </a:t>
            </a:r>
            <a:r>
              <a:rPr lang="ko-KR" altLang="en-US" dirty="0"/>
              <a:t>클래스 수정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6EA13C-BD99-4641-8D11-808988957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ViewResolver</a:t>
            </a:r>
            <a:r>
              <a:rPr lang="ko-KR" altLang="en-US" dirty="0"/>
              <a:t>를 적용할 때</a:t>
            </a:r>
            <a:r>
              <a:rPr lang="en-US" altLang="ko-KR" dirty="0"/>
              <a:t>, </a:t>
            </a:r>
            <a:r>
              <a:rPr lang="en-US" altLang="ko-KR" dirty="0" err="1"/>
              <a:t>ModelAndView</a:t>
            </a:r>
            <a:r>
              <a:rPr lang="en-US" altLang="ko-KR" dirty="0"/>
              <a:t> </a:t>
            </a:r>
            <a:r>
              <a:rPr lang="ko-KR" altLang="en-US" dirty="0"/>
              <a:t>객체에 저장되는 </a:t>
            </a:r>
            <a:r>
              <a:rPr lang="en-US" altLang="ko-KR" dirty="0"/>
              <a:t>View</a:t>
            </a:r>
            <a:r>
              <a:rPr lang="ko-KR" altLang="en-US" dirty="0"/>
              <a:t>이름은 </a:t>
            </a:r>
            <a:r>
              <a:rPr lang="en-US" altLang="ko-KR" dirty="0" err="1"/>
              <a:t>ViewResolver</a:t>
            </a:r>
            <a:r>
              <a:rPr lang="ko-KR" altLang="en-US" dirty="0"/>
              <a:t>를 고려하여 등록해야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View</a:t>
            </a:r>
            <a:r>
              <a:rPr lang="ko-KR" altLang="en-US" dirty="0"/>
              <a:t> 이름 앞에  </a:t>
            </a:r>
            <a:r>
              <a:rPr lang="en-US" altLang="ko-KR" dirty="0">
                <a:solidFill>
                  <a:srgbClr val="FF0000"/>
                </a:solidFill>
              </a:rPr>
              <a:t>‘redirect:’ </a:t>
            </a:r>
            <a:r>
              <a:rPr lang="ko-KR" altLang="en-US" dirty="0"/>
              <a:t>붙여 지정하면 </a:t>
            </a:r>
            <a:r>
              <a:rPr lang="en-US" altLang="ko-KR" dirty="0" err="1"/>
              <a:t>ViewResolver</a:t>
            </a:r>
            <a:r>
              <a:rPr lang="ko-KR" altLang="en-US" dirty="0"/>
              <a:t>를 무시하고 </a:t>
            </a:r>
            <a:r>
              <a:rPr lang="ko-KR" altLang="en-US" dirty="0" err="1"/>
              <a:t>리다이렉트</a:t>
            </a:r>
            <a:r>
              <a:rPr lang="ko-KR" altLang="en-US" dirty="0"/>
              <a:t> 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C57DE3-B2E9-4200-8C74-DD8FA5236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79" y="1956320"/>
            <a:ext cx="9182100" cy="13906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3B06CB0-44A1-4FCB-9648-B926AB863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079" y="3788903"/>
            <a:ext cx="9182100" cy="1390650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2CFD78A7-551B-4637-93AD-BB6692B5C909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5354129" y="3346970"/>
            <a:ext cx="0" cy="44193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7181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62D6C4-22AC-4D4E-AAF0-D852165A7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GetBoardListController</a:t>
            </a:r>
            <a:r>
              <a:rPr lang="en-US" altLang="ko-KR" dirty="0"/>
              <a:t> </a:t>
            </a:r>
            <a:r>
              <a:rPr lang="ko-KR" altLang="en-US" dirty="0"/>
              <a:t>클래스 수정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049F50DD-B2BD-437E-9696-0714441C95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8668" y="930484"/>
            <a:ext cx="9063875" cy="1119861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F4368EF-8152-4611-AB0C-05DC0F9500B3}"/>
              </a:ext>
            </a:extLst>
          </p:cNvPr>
          <p:cNvSpPr/>
          <p:nvPr/>
        </p:nvSpPr>
        <p:spPr>
          <a:xfrm>
            <a:off x="1457864" y="1616284"/>
            <a:ext cx="3743864" cy="22702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6ECDD1-E2B2-4718-81EB-9409B9151EA8}"/>
              </a:ext>
            </a:extLst>
          </p:cNvPr>
          <p:cNvSpPr txBox="1"/>
          <p:nvPr/>
        </p:nvSpPr>
        <p:spPr>
          <a:xfrm>
            <a:off x="5280605" y="1545132"/>
            <a:ext cx="130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dirty="0">
                <a:latin typeface="+mn-ea"/>
              </a:rPr>
              <a:t>.</a:t>
            </a:r>
            <a:r>
              <a:rPr lang="en-US" altLang="ko-KR" dirty="0" err="1">
                <a:latin typeface="+mn-ea"/>
              </a:rPr>
              <a:t>jsp</a:t>
            </a:r>
            <a:r>
              <a:rPr lang="ko-KR" altLang="en-US" dirty="0">
                <a:latin typeface="+mn-ea"/>
              </a:rPr>
              <a:t>를 제거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12DE541-7C28-449E-8981-988E9A1C17D4}"/>
              </a:ext>
            </a:extLst>
          </p:cNvPr>
          <p:cNvSpPr txBox="1">
            <a:spLocks/>
          </p:cNvSpPr>
          <p:nvPr/>
        </p:nvSpPr>
        <p:spPr>
          <a:xfrm>
            <a:off x="429491" y="2124500"/>
            <a:ext cx="11333018" cy="4596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게시물을 검색하고 나면 </a:t>
            </a:r>
            <a:r>
              <a:rPr lang="en-US" altLang="ko-KR" dirty="0" err="1"/>
              <a:t>getBoardList.jsp</a:t>
            </a:r>
            <a:r>
              <a:rPr lang="ko-KR" altLang="en-US" dirty="0"/>
              <a:t>가 실행</a:t>
            </a:r>
            <a:endParaRPr lang="en-US" altLang="ko-KR" dirty="0"/>
          </a:p>
          <a:p>
            <a:pPr lvl="1"/>
            <a:r>
              <a:rPr lang="ko-KR" altLang="en-US" dirty="0"/>
              <a:t>이때</a:t>
            </a:r>
            <a:r>
              <a:rPr lang="en-US" altLang="ko-KR" dirty="0"/>
              <a:t>, </a:t>
            </a:r>
            <a:r>
              <a:rPr lang="ko-KR" altLang="en-US" dirty="0"/>
              <a:t>확장자가 </a:t>
            </a:r>
            <a:r>
              <a:rPr lang="en-US" altLang="ko-KR" dirty="0"/>
              <a:t>‘.</a:t>
            </a:r>
            <a:r>
              <a:rPr lang="en-US" altLang="ko-KR" dirty="0" err="1"/>
              <a:t>jsp</a:t>
            </a:r>
            <a:r>
              <a:rPr lang="en-US" altLang="ko-KR" dirty="0"/>
              <a:t>’</a:t>
            </a:r>
            <a:r>
              <a:rPr lang="ko-KR" altLang="en-US" dirty="0"/>
              <a:t>를 생략하면 </a:t>
            </a:r>
            <a:r>
              <a:rPr lang="en-US" altLang="ko-KR" dirty="0" err="1"/>
              <a:t>ViewResolver</a:t>
            </a:r>
            <a:r>
              <a:rPr lang="ko-KR" altLang="en-US" dirty="0"/>
              <a:t>가 접두사와 접미사를 적절히 할당하여 </a:t>
            </a:r>
            <a:r>
              <a:rPr lang="en-US" altLang="ko-KR" dirty="0"/>
              <a:t>‘/WEB-INF/board/</a:t>
            </a:r>
            <a:r>
              <a:rPr lang="en-US" altLang="ko-KR" dirty="0" err="1"/>
              <a:t>getBoardList.jsp</a:t>
            </a:r>
            <a:r>
              <a:rPr lang="en-US" altLang="ko-KR" dirty="0"/>
              <a:t>’</a:t>
            </a:r>
            <a:r>
              <a:rPr lang="ko-KR" altLang="en-US" dirty="0"/>
              <a:t>파일을 실행한다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InternalResourceViewResolver</a:t>
            </a:r>
            <a:r>
              <a:rPr lang="ko-KR" altLang="en-US" dirty="0"/>
              <a:t>를 등록했을 때는 모든 </a:t>
            </a:r>
            <a:r>
              <a:rPr lang="en-US" altLang="ko-KR" dirty="0"/>
              <a:t>View </a:t>
            </a:r>
            <a:r>
              <a:rPr lang="ko-KR" altLang="en-US" dirty="0"/>
              <a:t>이름에 확장자를 제거해야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확장자가 </a:t>
            </a:r>
            <a:r>
              <a:rPr lang="en-US" altLang="ko-KR" dirty="0"/>
              <a:t>‘.do’</a:t>
            </a:r>
            <a:r>
              <a:rPr lang="ko-KR" altLang="en-US" dirty="0"/>
              <a:t>인 요청은 앞에 </a:t>
            </a:r>
            <a:r>
              <a:rPr lang="en-US" altLang="ko-KR" dirty="0"/>
              <a:t>‘redirect:’</a:t>
            </a:r>
            <a:r>
              <a:rPr lang="ko-KR" altLang="en-US" dirty="0"/>
              <a:t>를 붙여서 </a:t>
            </a:r>
            <a:r>
              <a:rPr lang="en-US" altLang="ko-KR" dirty="0" err="1"/>
              <a:t>ViewResolver</a:t>
            </a:r>
            <a:r>
              <a:rPr lang="ko-KR" altLang="en-US" dirty="0"/>
              <a:t>가 동작하지 않도록 </a:t>
            </a:r>
            <a:r>
              <a:rPr lang="ko-KR" altLang="en-US" dirty="0" err="1"/>
              <a:t>해야한다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49804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FB228C-968C-4EED-81EA-92355D0D5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GetBoardController</a:t>
            </a:r>
            <a:r>
              <a:rPr lang="en-US" altLang="ko-KR" dirty="0"/>
              <a:t> </a:t>
            </a:r>
            <a:r>
              <a:rPr lang="ko-KR" altLang="en-US" dirty="0"/>
              <a:t>클래스 수정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013AE261-3D3D-4883-82F8-D9B19241B2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0190" y="1087715"/>
            <a:ext cx="9115908" cy="1059476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FCE9548-C945-4863-A4E7-950E44353A06}"/>
              </a:ext>
            </a:extLst>
          </p:cNvPr>
          <p:cNvSpPr/>
          <p:nvPr/>
        </p:nvSpPr>
        <p:spPr>
          <a:xfrm>
            <a:off x="1457864" y="1719796"/>
            <a:ext cx="3743864" cy="22702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61F4C5-E225-4F7F-8142-B570E16F2F6A}"/>
              </a:ext>
            </a:extLst>
          </p:cNvPr>
          <p:cNvSpPr txBox="1"/>
          <p:nvPr/>
        </p:nvSpPr>
        <p:spPr>
          <a:xfrm>
            <a:off x="5288144" y="1617453"/>
            <a:ext cx="130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dirty="0">
                <a:latin typeface="+mn-ea"/>
              </a:rPr>
              <a:t>.</a:t>
            </a:r>
            <a:r>
              <a:rPr lang="en-US" altLang="ko-KR" dirty="0" err="1">
                <a:latin typeface="+mn-ea"/>
              </a:rPr>
              <a:t>jsp</a:t>
            </a:r>
            <a:r>
              <a:rPr lang="ko-KR" altLang="en-US" dirty="0">
                <a:latin typeface="+mn-ea"/>
              </a:rPr>
              <a:t>를 제거</a:t>
            </a:r>
          </a:p>
        </p:txBody>
      </p:sp>
    </p:spTree>
    <p:extLst>
      <p:ext uri="{BB962C8B-B14F-4D97-AF65-F5344CB8AC3E}">
        <p14:creationId xmlns:p14="http://schemas.microsoft.com/office/powerpoint/2010/main" val="14378530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E6A796-DE97-4A88-B45F-092D40D41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</a:t>
            </a:r>
            <a:r>
              <a:rPr lang="en-US" altLang="ko-KR" dirty="0"/>
              <a:t>Controller </a:t>
            </a:r>
            <a:r>
              <a:rPr lang="ko-KR" altLang="en-US" dirty="0"/>
              <a:t>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C63ACC-CDD7-40A5-B952-70718A198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InsertBoardController</a:t>
            </a:r>
            <a:r>
              <a:rPr lang="en-US" altLang="ko-KR" dirty="0"/>
              <a:t>, </a:t>
            </a:r>
            <a:r>
              <a:rPr lang="en-US" altLang="ko-KR" dirty="0" err="1"/>
              <a:t>UpdateBoardController</a:t>
            </a:r>
            <a:r>
              <a:rPr lang="en-US" altLang="ko-KR" dirty="0"/>
              <a:t>, </a:t>
            </a:r>
            <a:r>
              <a:rPr lang="en-US" altLang="ko-KR" dirty="0" err="1"/>
              <a:t>DeleteBoardController</a:t>
            </a:r>
            <a:r>
              <a:rPr lang="en-US" altLang="ko-KR" dirty="0"/>
              <a:t> </a:t>
            </a:r>
            <a:r>
              <a:rPr lang="ko-KR" altLang="en-US" dirty="0"/>
              <a:t>클래스는 모두 </a:t>
            </a:r>
            <a:r>
              <a:rPr lang="en-US" altLang="ko-KR" dirty="0"/>
              <a:t>‘</a:t>
            </a:r>
            <a:r>
              <a:rPr lang="en-US" altLang="ko-KR" dirty="0" err="1"/>
              <a:t>redirect:getBoardList.do</a:t>
            </a:r>
            <a:r>
              <a:rPr lang="en-US" altLang="ko-KR" dirty="0"/>
              <a:t>’</a:t>
            </a:r>
            <a:r>
              <a:rPr lang="ko-KR" altLang="en-US" dirty="0"/>
              <a:t>로 수정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LogoutController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Logout</a:t>
            </a:r>
            <a:r>
              <a:rPr lang="ko-KR" altLang="en-US" dirty="0"/>
              <a:t>처리 후에 로그인 화면으로 이동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459B0C-31BC-4181-AA8C-9FCF461D8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1" y="2229389"/>
            <a:ext cx="9297299" cy="815736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D7181E6-3DEF-49E7-AC9E-984A5A3FD656}"/>
              </a:ext>
            </a:extLst>
          </p:cNvPr>
          <p:cNvSpPr/>
          <p:nvPr/>
        </p:nvSpPr>
        <p:spPr>
          <a:xfrm>
            <a:off x="1311215" y="2612181"/>
            <a:ext cx="3743864" cy="22702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47173-DA2B-4723-BA5B-AC994C3C384A}"/>
              </a:ext>
            </a:extLst>
          </p:cNvPr>
          <p:cNvSpPr txBox="1"/>
          <p:nvPr/>
        </p:nvSpPr>
        <p:spPr>
          <a:xfrm>
            <a:off x="5141495" y="2509838"/>
            <a:ext cx="167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dirty="0">
                <a:latin typeface="+mn-ea"/>
              </a:rPr>
              <a:t>‘redirect:’ </a:t>
            </a:r>
            <a:r>
              <a:rPr lang="ko-KR" altLang="en-US" dirty="0">
                <a:latin typeface="+mn-ea"/>
              </a:rPr>
              <a:t>추가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E2CF5FE-035E-4377-B864-CD5FFEE94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46" y="4307456"/>
            <a:ext cx="8362950" cy="762000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A16EDF3-B79B-4A29-8874-E293177BD7A2}"/>
              </a:ext>
            </a:extLst>
          </p:cNvPr>
          <p:cNvSpPr/>
          <p:nvPr/>
        </p:nvSpPr>
        <p:spPr>
          <a:xfrm>
            <a:off x="1224799" y="4691147"/>
            <a:ext cx="3743864" cy="22702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E7AAF6-E18F-4CBF-AB3E-557CF9925D8E}"/>
              </a:ext>
            </a:extLst>
          </p:cNvPr>
          <p:cNvSpPr txBox="1"/>
          <p:nvPr/>
        </p:nvSpPr>
        <p:spPr>
          <a:xfrm>
            <a:off x="5055079" y="4588804"/>
            <a:ext cx="167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dirty="0">
                <a:latin typeface="+mn-ea"/>
              </a:rPr>
              <a:t>‘redirect:’ </a:t>
            </a:r>
            <a:r>
              <a:rPr lang="ko-KR" altLang="en-US" dirty="0">
                <a:latin typeface="+mn-ea"/>
              </a:rPr>
              <a:t>추가</a:t>
            </a:r>
          </a:p>
        </p:txBody>
      </p:sp>
    </p:spTree>
    <p:extLst>
      <p:ext uri="{BB962C8B-B14F-4D97-AF65-F5344CB8AC3E}">
        <p14:creationId xmlns:p14="http://schemas.microsoft.com/office/powerpoint/2010/main" val="1427539851"/>
      </p:ext>
    </p:extLst>
  </p:cSld>
  <p:clrMapOvr>
    <a:masterClrMapping/>
  </p:clrMapOvr>
</p:sld>
</file>

<file path=ppt/theme/theme1.xml><?xml version="1.0" encoding="utf-8"?>
<a:theme xmlns:a="http://schemas.openxmlformats.org/drawingml/2006/main" name="나의테마템플릿04">
  <a:themeElements>
    <a:clrScheme name="사용자 지정 5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7473"/>
      </a:accent1>
      <a:accent2>
        <a:srgbClr val="FFC952"/>
      </a:accent2>
      <a:accent3>
        <a:srgbClr val="47B8E0"/>
      </a:accent3>
      <a:accent4>
        <a:srgbClr val="34314C"/>
      </a:accent4>
      <a:accent5>
        <a:srgbClr val="56A902"/>
      </a:accent5>
      <a:accent6>
        <a:srgbClr val="004E66"/>
      </a:accent6>
      <a:hlink>
        <a:srgbClr val="F68657"/>
      </a:hlink>
      <a:folHlink>
        <a:srgbClr val="56627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나의테마템플릿04" id="{7F52D135-F8FA-403B-AABA-AE22DDBC91EA}" vid="{BAB22242-D26A-4E8F-823A-43129A11C5F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9258</TotalTime>
  <Words>916</Words>
  <Application>Microsoft Office PowerPoint</Application>
  <PresentationFormat>와이드스크린</PresentationFormat>
  <Paragraphs>147</Paragraphs>
  <Slides>48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4" baseType="lpstr">
      <vt:lpstr>HY헤드라인M</vt:lpstr>
      <vt:lpstr>나눔고딕코딩</vt:lpstr>
      <vt:lpstr>Arial</vt:lpstr>
      <vt:lpstr>Wingdings</vt:lpstr>
      <vt:lpstr>맑은 고딕</vt:lpstr>
      <vt:lpstr>나의테마템플릿04</vt:lpstr>
      <vt:lpstr>   고급 자바 프로그래밍 : STS를 이용한 Spring 프로그래밍</vt:lpstr>
      <vt:lpstr>5. SpringMVC 구조</vt:lpstr>
      <vt:lpstr>5.1 스프링 MVC의 수행 흐름</vt:lpstr>
      <vt:lpstr>스프링 MVC를 이용한 웹어플리케이션</vt:lpstr>
      <vt:lpstr>5.2 DispatcherServlet 등록 및 스프링컨테이너 구동</vt:lpstr>
      <vt:lpstr>5.2.1 DispatcherServlet 등록</vt:lpstr>
      <vt:lpstr>5.2.2 스프링 컨테이너 구동  login.do 실행 후 오류</vt:lpstr>
      <vt:lpstr>PowerPoint 프레젠테이션</vt:lpstr>
      <vt:lpstr>스프링 컨테이터(XmlWebApplicatonContext)의 구동 과정</vt:lpstr>
      <vt:lpstr>5.3 스프링 설정 파일 등록-web.xml 수정</vt:lpstr>
      <vt:lpstr>/WEB-INF/spring/appServlet/servlet-context.xml</vt:lpstr>
      <vt:lpstr>/WEB-INF/spring/appServlet/servlet-context.xml</vt:lpstr>
      <vt:lpstr>/WEB-INF/spring/appServlet/servlet-context.xml</vt:lpstr>
      <vt:lpstr>/WEB-INF/spring/appServlet/servlet-context.xml</vt:lpstr>
      <vt:lpstr>/WEB-INF/spring/appServlet/servlet-context.xml</vt:lpstr>
      <vt:lpstr>/WEB-INF/spring/appServlet/servlet-context.xml</vt:lpstr>
      <vt:lpstr>서버 실행</vt:lpstr>
      <vt:lpstr>6-7 Spring MVC 적용</vt:lpstr>
      <vt:lpstr>6.1 Spring MVC 적용 준비</vt:lpstr>
      <vt:lpstr> (1) LoginController 구현 - 수정</vt:lpstr>
      <vt:lpstr>Spring MVC 준비 – 스프링의 Controller interface</vt:lpstr>
      <vt:lpstr> 6.2 로그인 기능 구현 – (1)LoginController 구현-수정</vt:lpstr>
      <vt:lpstr>(2) HandlerMapping 등록 servlet-context.xml</vt:lpstr>
      <vt:lpstr>6.3 글 목록 검색 기능 구현-(1)GetBoardListController 구현</vt:lpstr>
      <vt:lpstr>(2) HandlerMapping 등록 servlet-context.xml</vt:lpstr>
      <vt:lpstr>6.4 글 상세 조회 기능-(1)GetBoardController 구현</vt:lpstr>
      <vt:lpstr>(2) HandlerMapping 등록 servlet-context.xml</vt:lpstr>
      <vt:lpstr>6.5 글 등록 기능-(1)InsertBoardController 구현</vt:lpstr>
      <vt:lpstr>(2) HandlerMapping 등록 servlet-context.xml</vt:lpstr>
      <vt:lpstr>6.6 글 수정 기능-(1)UpdateBoardController 구현</vt:lpstr>
      <vt:lpstr>6.7 글 삭제 기능-(1)DeleteBoardController 구현</vt:lpstr>
      <vt:lpstr>Handlermapping 등록</vt:lpstr>
      <vt:lpstr>6.8 로그아웃 기능 구현하기-LogoutController</vt:lpstr>
      <vt:lpstr>Handlermapping 등록</vt:lpstr>
      <vt:lpstr>View 페이지(JSP) 수정</vt:lpstr>
      <vt:lpstr>EL과 JSTL</vt:lpstr>
      <vt:lpstr>getBoard.jsp 수정(EL 표현언어로 수정)</vt:lpstr>
      <vt:lpstr>getBoardList.jsp(EL 표현언어로 수정)</vt:lpstr>
      <vt:lpstr>서버 실행 보기</vt:lpstr>
      <vt:lpstr>PowerPoint 프레젠테이션</vt:lpstr>
      <vt:lpstr>등록된 Controller로가 HandlerMapping로 설정</vt:lpstr>
      <vt:lpstr>6.9 ViewResolver 활용하기</vt:lpstr>
      <vt:lpstr>ViewResolver</vt:lpstr>
      <vt:lpstr>servlet-context.xml에 ViewResolver추가</vt:lpstr>
      <vt:lpstr>LoginController 클래스 수정</vt:lpstr>
      <vt:lpstr>GetBoardListController 클래스 수정</vt:lpstr>
      <vt:lpstr>GetBoardController 클래스 수정</vt:lpstr>
      <vt:lpstr>기타 Controller 클래스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박경태</dc:creator>
  <cp:lastModifiedBy>박 경태</cp:lastModifiedBy>
  <cp:revision>552</cp:revision>
  <dcterms:created xsi:type="dcterms:W3CDTF">2016-01-28T14:54:53Z</dcterms:created>
  <dcterms:modified xsi:type="dcterms:W3CDTF">2018-09-25T15:07:29Z</dcterms:modified>
</cp:coreProperties>
</file>